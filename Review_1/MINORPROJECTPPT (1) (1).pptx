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82"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83" r:id="rId23"/>
    <p:sldId id="276" r:id="rId24"/>
    <p:sldId id="284" r:id="rId25"/>
    <p:sldId id="277" r:id="rId26"/>
    <p:sldId id="278" r:id="rId27"/>
    <p:sldId id="279" r:id="rId28"/>
    <p:sldId id="286" r:id="rId29"/>
    <p:sldId id="280" r:id="rId30"/>
    <p:sldId id="285" r:id="rId31"/>
    <p:sldId id="28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9E8D36-1D21-00BC-222C-DF16765AAD83}" v="579" dt="2026-02-26T18:26:20.151"/>
    <p1510:client id="{9ABF3190-7CC7-4A02-A790-FA4D866F5B0F}" v="380" dt="2026-02-27T15:11:06.544"/>
    <p1510:client id="{A96C86F6-7490-4A8B-926D-CBF13640ABB5}" v="1610" dt="2026-02-26T18:28:27.458"/>
    <p1510:client id="{FD7DD08D-99C6-E439-73AE-78EE66159B6E}" v="580" dt="2026-02-27T14:47:07.7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navi Sreeshan" userId="02a6cfcb4f85b457" providerId="LiveId" clId="{B1C617D7-BC84-4D9F-BC1B-ED0A47FDB305}"/>
    <pc:docChg chg="custSel addSld modSld">
      <pc:chgData name="Vaishnavi Sreeshan" userId="02a6cfcb4f85b457" providerId="LiveId" clId="{B1C617D7-BC84-4D9F-BC1B-ED0A47FDB305}" dt="2026-02-27T15:11:06.544" v="57" actId="5793"/>
      <pc:docMkLst>
        <pc:docMk/>
      </pc:docMkLst>
      <pc:sldChg chg="modSp new mod">
        <pc:chgData name="Vaishnavi Sreeshan" userId="02a6cfcb4f85b457" providerId="LiveId" clId="{B1C617D7-BC84-4D9F-BC1B-ED0A47FDB305}" dt="2026-02-27T15:11:06.544" v="57" actId="5793"/>
        <pc:sldMkLst>
          <pc:docMk/>
          <pc:sldMk cId="901588622" sldId="286"/>
        </pc:sldMkLst>
        <pc:spChg chg="mod">
          <ac:chgData name="Vaishnavi Sreeshan" userId="02a6cfcb4f85b457" providerId="LiveId" clId="{B1C617D7-BC84-4D9F-BC1B-ED0A47FDB305}" dt="2026-02-27T15:08:54.627" v="50" actId="113"/>
          <ac:spMkLst>
            <pc:docMk/>
            <pc:sldMk cId="901588622" sldId="286"/>
            <ac:spMk id="2" creationId="{3EF66F73-E3DD-B66E-B871-ADB72A3AC0DE}"/>
          </ac:spMkLst>
        </pc:spChg>
        <pc:spChg chg="mod">
          <ac:chgData name="Vaishnavi Sreeshan" userId="02a6cfcb4f85b457" providerId="LiveId" clId="{B1C617D7-BC84-4D9F-BC1B-ED0A47FDB305}" dt="2026-02-27T15:11:06.544" v="57" actId="5793"/>
          <ac:spMkLst>
            <pc:docMk/>
            <pc:sldMk cId="901588622" sldId="286"/>
            <ac:spMk id="3" creationId="{9242FC85-C885-BC98-F381-FE9BB5FBFDA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6E3E64-25C7-4AD0-B9A7-B772AE0A3F10}" type="datetimeFigureOut">
              <a:rPr lang="en-IN" smtClean="0"/>
              <a:t>28-03-2026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570390-867F-4ABD-91D3-E2BBE3858A9B}" type="slidenum">
              <a:rPr lang="en-IN" smtClean="0"/>
              <a:t>‹#›</a:t>
            </a:fld>
            <a:endParaRPr lang="en-IN"/>
          </a:p>
        </p:txBody>
      </p:sp>
    </p:spTree>
    <p:extLst>
      <p:ext uri="{BB962C8B-B14F-4D97-AF65-F5344CB8AC3E}">
        <p14:creationId xmlns:p14="http://schemas.microsoft.com/office/powerpoint/2010/main" val="2167051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6570390-867F-4ABD-91D3-E2BBE3858A9B}" type="slidenum">
              <a:rPr lang="en-IN" smtClean="0"/>
              <a:t>25</a:t>
            </a:fld>
            <a:endParaRPr lang="en-IN"/>
          </a:p>
        </p:txBody>
      </p:sp>
    </p:spTree>
    <p:extLst>
      <p:ext uri="{BB962C8B-B14F-4D97-AF65-F5344CB8AC3E}">
        <p14:creationId xmlns:p14="http://schemas.microsoft.com/office/powerpoint/2010/main" val="1173289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02EAF-F3F4-4B12-EFF2-0E067A968C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A3C7864-AB5E-D8BB-628C-FFD2CDE81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44CFBD-3F79-E013-30B8-0182CBFCDF12}"/>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5" name="Footer Placeholder 4">
            <a:extLst>
              <a:ext uri="{FF2B5EF4-FFF2-40B4-BE49-F238E27FC236}">
                <a16:creationId xmlns:a16="http://schemas.microsoft.com/office/drawing/2014/main" id="{76FC0EE9-97E7-DFD2-EF6A-184E3D18F6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17C0C3-6211-9C48-6BAB-DE52FBD3224C}"/>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1742655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BD530-F641-FA1E-28D2-62784FCE46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D9F4FE-9DD5-976E-7166-64C78218DC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5AF57D-E516-BAC8-3C1D-7DF821815E88}"/>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5" name="Footer Placeholder 4">
            <a:extLst>
              <a:ext uri="{FF2B5EF4-FFF2-40B4-BE49-F238E27FC236}">
                <a16:creationId xmlns:a16="http://schemas.microsoft.com/office/drawing/2014/main" id="{CC326504-FC25-BC7A-9B80-6590D79041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14F87B-DA50-70C6-5AC4-FBA3759B5CA2}"/>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1813603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6B4F4-206E-AC20-CC9A-DE6D100412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E69205-111E-EF31-4936-CAB88E7AFB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B6C1-71D7-6D9A-591E-ED8C1C979AD9}"/>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5" name="Footer Placeholder 4">
            <a:extLst>
              <a:ext uri="{FF2B5EF4-FFF2-40B4-BE49-F238E27FC236}">
                <a16:creationId xmlns:a16="http://schemas.microsoft.com/office/drawing/2014/main" id="{38EE15B3-5CBB-0F7A-7F83-8AE5AA00AC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53EB3B-D39B-80FE-6984-D5B466E6F209}"/>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3408929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C9ADA-B85C-1345-40F2-4A99584856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7093C6-1A5A-7935-579C-55665477A9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35CDEC-8B78-5D87-4EAE-641F35F88A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1A0C0DC-D2BC-8CB8-421A-2948D36FC6E6}"/>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6" name="Footer Placeholder 5">
            <a:extLst>
              <a:ext uri="{FF2B5EF4-FFF2-40B4-BE49-F238E27FC236}">
                <a16:creationId xmlns:a16="http://schemas.microsoft.com/office/drawing/2014/main" id="{1328AD30-92AE-A48B-DB5D-A456225E88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A68E92-B5B8-0D6E-4876-CB2CDCAA34F7}"/>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1684970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3B6A8-8D25-785A-8D01-A4207CD288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736BD5-407D-F0E0-8D97-76DDCB3D45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04C6D-7C69-E899-3E57-EA460BE3CB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FBFE7F-F51C-15BB-0BD9-F9269164F5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7C06CA-3C8E-1A03-0BE2-5A18C5B4EC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A891A24-BC00-9C33-7DB1-F188775D0610}"/>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8" name="Footer Placeholder 7">
            <a:extLst>
              <a:ext uri="{FF2B5EF4-FFF2-40B4-BE49-F238E27FC236}">
                <a16:creationId xmlns:a16="http://schemas.microsoft.com/office/drawing/2014/main" id="{437128CB-9DA8-120F-7CB8-D320C8E757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B58F8E-2B70-173B-D2DB-E3E8719F31BA}"/>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3848918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81829-C79B-C4A4-2FAC-00534056038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B862542-A5AC-279C-EF9F-57CE290F9D3D}"/>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4" name="Footer Placeholder 3">
            <a:extLst>
              <a:ext uri="{FF2B5EF4-FFF2-40B4-BE49-F238E27FC236}">
                <a16:creationId xmlns:a16="http://schemas.microsoft.com/office/drawing/2014/main" id="{8FF84554-CEA2-BA3A-5BE0-F106D897C69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54C9C3F-2DF1-B229-6A66-97883B7CB38C}"/>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2426599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C34002-46F3-DD58-6AC2-9AEF9B827043}"/>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3" name="Footer Placeholder 2">
            <a:extLst>
              <a:ext uri="{FF2B5EF4-FFF2-40B4-BE49-F238E27FC236}">
                <a16:creationId xmlns:a16="http://schemas.microsoft.com/office/drawing/2014/main" id="{3470F6F0-0DBD-9413-58FF-9B11D332351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65DEDB0-3833-1A68-32D7-6B06025B26EF}"/>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1620549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B10C4-387F-6193-546A-2C098D124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AF48A8-62B3-3885-1684-C8D0AAEFAA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ADD2688-AA96-4EF4-2B9E-373752435D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028BC4-162B-3443-95E6-43907AF64ECC}"/>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6" name="Footer Placeholder 5">
            <a:extLst>
              <a:ext uri="{FF2B5EF4-FFF2-40B4-BE49-F238E27FC236}">
                <a16:creationId xmlns:a16="http://schemas.microsoft.com/office/drawing/2014/main" id="{46C88276-CE36-C1BE-B830-7962C47C53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D96BED-DAAA-FCE6-3624-15ECF8D639DB}"/>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4245882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2E49C-55D7-A207-30E1-CAE31A53C5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EB07E7A-FDE4-AAEC-B427-07368A3D56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7D8C83-CBCB-8DB3-DA16-7187C369DC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342E4F-409C-9CAF-49A1-47C0AF74378F}"/>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6" name="Footer Placeholder 5">
            <a:extLst>
              <a:ext uri="{FF2B5EF4-FFF2-40B4-BE49-F238E27FC236}">
                <a16:creationId xmlns:a16="http://schemas.microsoft.com/office/drawing/2014/main" id="{9E79B8C3-984E-EE35-427C-ED6D81FF8C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0AAB79-82C5-70E3-D6F3-59C38769F300}"/>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1756711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63A25-BE99-61BF-E66C-7D01D0483E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F0C64E-E6A5-DFCE-D0D5-5387ACD8AD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524822-665A-6793-6EE0-DE072695D1A2}"/>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5" name="Footer Placeholder 4">
            <a:extLst>
              <a:ext uri="{FF2B5EF4-FFF2-40B4-BE49-F238E27FC236}">
                <a16:creationId xmlns:a16="http://schemas.microsoft.com/office/drawing/2014/main" id="{FBE21FA1-3FAB-D373-DA60-78D2E60EB9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35C2BF-E89D-D953-8341-3002ADB33BE5}"/>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1204768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594030-C75F-3353-9BEE-19381839DA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4928AA-DFEF-B504-616F-97BC94F57F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4E887A-6827-6A1A-B6A5-C045BAAA085C}"/>
              </a:ext>
            </a:extLst>
          </p:cNvPr>
          <p:cNvSpPr>
            <a:spLocks noGrp="1"/>
          </p:cNvSpPr>
          <p:nvPr>
            <p:ph type="dt" sz="half" idx="10"/>
          </p:nvPr>
        </p:nvSpPr>
        <p:spPr/>
        <p:txBody>
          <a:bodyPr/>
          <a:lstStyle/>
          <a:p>
            <a:fld id="{27AA697A-DEBC-4E03-84CF-E05AB4CF7959}" type="datetimeFigureOut">
              <a:rPr lang="en-IN" smtClean="0"/>
              <a:t>28-03-2026</a:t>
            </a:fld>
            <a:endParaRPr lang="en-IN"/>
          </a:p>
        </p:txBody>
      </p:sp>
      <p:sp>
        <p:nvSpPr>
          <p:cNvPr id="5" name="Footer Placeholder 4">
            <a:extLst>
              <a:ext uri="{FF2B5EF4-FFF2-40B4-BE49-F238E27FC236}">
                <a16:creationId xmlns:a16="http://schemas.microsoft.com/office/drawing/2014/main" id="{223B1672-CB15-E35C-57E9-BDB118150A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F14CC6-0D4A-2855-4A9A-BC1E04759C69}"/>
              </a:ext>
            </a:extLst>
          </p:cNvPr>
          <p:cNvSpPr>
            <a:spLocks noGrp="1"/>
          </p:cNvSpPr>
          <p:nvPr>
            <p:ph type="sldNum" sz="quarter" idx="12"/>
          </p:nvPr>
        </p:nvSpPr>
        <p:spPr/>
        <p:txBody>
          <a:bodyPr/>
          <a:lstStyle/>
          <a:p>
            <a:fld id="{D282B558-3B93-456A-AD1E-D9BBC2889F01}" type="slidenum">
              <a:rPr lang="en-IN" smtClean="0"/>
              <a:t>‹#›</a:t>
            </a:fld>
            <a:endParaRPr lang="en-IN"/>
          </a:p>
        </p:txBody>
      </p:sp>
    </p:spTree>
    <p:extLst>
      <p:ext uri="{BB962C8B-B14F-4D97-AF65-F5344CB8AC3E}">
        <p14:creationId xmlns:p14="http://schemas.microsoft.com/office/powerpoint/2010/main" val="4190250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1356A7-41D9-6E9D-458E-2505DD1117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731A78-D4CC-63DD-6569-AA96AEABC8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164FE5-FE30-E269-20CA-6925832D85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AA697A-DEBC-4E03-84CF-E05AB4CF7959}" type="datetimeFigureOut">
              <a:rPr lang="en-IN" smtClean="0"/>
              <a:t>28-03-2026</a:t>
            </a:fld>
            <a:endParaRPr lang="en-IN"/>
          </a:p>
        </p:txBody>
      </p:sp>
      <p:sp>
        <p:nvSpPr>
          <p:cNvPr id="5" name="Footer Placeholder 4">
            <a:extLst>
              <a:ext uri="{FF2B5EF4-FFF2-40B4-BE49-F238E27FC236}">
                <a16:creationId xmlns:a16="http://schemas.microsoft.com/office/drawing/2014/main" id="{75D44DE7-267F-25FA-1EF9-205EAB3E60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055BEAC-5307-F986-7695-819D8D912C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2B558-3B93-456A-AD1E-D9BBC2889F01}" type="slidenum">
              <a:rPr lang="en-IN" smtClean="0"/>
              <a:t>‹#›</a:t>
            </a:fld>
            <a:endParaRPr lang="en-IN"/>
          </a:p>
        </p:txBody>
      </p:sp>
    </p:spTree>
    <p:extLst>
      <p:ext uri="{BB962C8B-B14F-4D97-AF65-F5344CB8AC3E}">
        <p14:creationId xmlns:p14="http://schemas.microsoft.com/office/powerpoint/2010/main" val="952848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19731-EA5E-C5CA-7E13-E318907EDB02}"/>
              </a:ext>
            </a:extLst>
          </p:cNvPr>
          <p:cNvSpPr>
            <a:spLocks noGrp="1"/>
          </p:cNvSpPr>
          <p:nvPr>
            <p:ph type="ctrTitle"/>
          </p:nvPr>
        </p:nvSpPr>
        <p:spPr>
          <a:xfrm>
            <a:off x="1524000" y="868362"/>
            <a:ext cx="9144000" cy="2387600"/>
          </a:xfrm>
        </p:spPr>
        <p:txBody>
          <a:bodyPr>
            <a:normAutofit/>
          </a:bodyPr>
          <a:lstStyle/>
          <a:p>
            <a:r>
              <a:rPr lang="en-US" sz="3200" b="1">
                <a:latin typeface="Times New Roman" panose="02020603050405020304" pitchFamily="18" charset="0"/>
                <a:cs typeface="Times New Roman" panose="02020603050405020304" pitchFamily="18" charset="0"/>
              </a:rPr>
              <a:t>PID-Guard: Intent Drift and Context Integrity Framework for Detecting Prompt Injection Attacks in Large Language Models</a:t>
            </a:r>
            <a:endParaRPr lang="en-US"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70B8E28-D2E0-E50E-15C7-70D1A38A9980}"/>
              </a:ext>
            </a:extLst>
          </p:cNvPr>
          <p:cNvSpPr>
            <a:spLocks noGrp="1"/>
          </p:cNvSpPr>
          <p:nvPr>
            <p:ph type="subTitle" idx="1"/>
          </p:nvPr>
        </p:nvSpPr>
        <p:spPr>
          <a:xfrm>
            <a:off x="1524000" y="3602039"/>
            <a:ext cx="9144000" cy="1872932"/>
          </a:xfrm>
        </p:spPr>
        <p:txBody>
          <a:bodyPr vert="horz" lIns="91440" tIns="45720" rIns="91440" bIns="45720" rtlCol="0" anchor="t">
            <a:noAutofit/>
          </a:bodyPr>
          <a:lstStyle/>
          <a:p>
            <a:r>
              <a:rPr lang="en-US" sz="2000" b="1" dirty="0">
                <a:latin typeface="Times New Roman" panose="02020603050405020304" pitchFamily="18" charset="0"/>
                <a:cs typeface="Times New Roman" panose="02020603050405020304" pitchFamily="18" charset="0"/>
              </a:rPr>
              <a:t>MINOR PROJECT REVIEW-1</a:t>
            </a:r>
          </a:p>
          <a:p>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a:cs typeface="Times New Roman"/>
              </a:rPr>
              <a:t>TEAM MEMBERS: Anirudh NM – RA2311030010228</a:t>
            </a:r>
          </a:p>
          <a:p>
            <a:pPr algn="l"/>
            <a:r>
              <a:rPr lang="en-US" sz="2000" dirty="0">
                <a:latin typeface="Times New Roman"/>
                <a:cs typeface="Times New Roman"/>
              </a:rPr>
              <a:t>                                  J Mohit – RA2311030010245</a:t>
            </a:r>
            <a:endParaRPr lang="en-US" sz="2000" dirty="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a:cs typeface="Times New Roman"/>
              </a:rPr>
              <a:t>PROJECT GUIDE  :  Dr. Kanmani K</a:t>
            </a:r>
          </a:p>
          <a:p>
            <a:pPr algn="l"/>
            <a:endParaRPr lang="en-US" sz="2000" dirty="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l"/>
            <a:r>
              <a:rPr lang="en-US" sz="2000" dirty="0">
                <a:latin typeface="Times New Roman"/>
                <a:cs typeface="Times New Roman"/>
              </a:rPr>
              <a:t>                                 </a:t>
            </a:r>
            <a:endParaRPr lang="en-IN" sz="2000" dirty="0">
              <a:latin typeface="Times New Roman"/>
              <a:cs typeface="Times New Roman"/>
            </a:endParaRPr>
          </a:p>
        </p:txBody>
      </p:sp>
      <p:pic>
        <p:nvPicPr>
          <p:cNvPr id="4" name="image1.png">
            <a:extLst>
              <a:ext uri="{FF2B5EF4-FFF2-40B4-BE49-F238E27FC236}">
                <a16:creationId xmlns:a16="http://schemas.microsoft.com/office/drawing/2014/main" id="{CCC55F2C-B85F-1E4B-F395-58041E68788A}"/>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109378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5C11B-1F9D-E4FA-9A56-F0E1BC370DCD}"/>
              </a:ext>
            </a:extLst>
          </p:cNvPr>
          <p:cNvSpPr>
            <a:spLocks noGrp="1"/>
          </p:cNvSpPr>
          <p:nvPr>
            <p:ph type="title"/>
          </p:nvPr>
        </p:nvSpPr>
        <p:spPr/>
        <p:txBody>
          <a:bodyPr>
            <a:normAutofit/>
          </a:bodyPr>
          <a:lstStyle/>
          <a:p>
            <a:pPr algn="ctr"/>
            <a:r>
              <a:rPr lang="en-US" sz="3200" b="1" dirty="0">
                <a:latin typeface="Times New Roman"/>
                <a:cs typeface="Times New Roman"/>
              </a:rPr>
              <a:t>ABSTRACT</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F0CE2FF3-56B8-1F59-9855-A954CC32CD09}"/>
              </a:ext>
            </a:extLst>
          </p:cNvPr>
          <p:cNvSpPr>
            <a:spLocks noGrp="1"/>
          </p:cNvSpPr>
          <p:nvPr>
            <p:ph idx="1"/>
          </p:nvPr>
        </p:nvSpPr>
        <p:spPr/>
        <p:txBody>
          <a:bodyPr vert="horz" lIns="91440" tIns="45720" rIns="91440" bIns="45720" rtlCol="0" anchor="t">
            <a:normAutofit fontScale="85000" lnSpcReduction="10000"/>
          </a:bodyPr>
          <a:lstStyle/>
          <a:p>
            <a:pPr marL="0" indent="0" algn="just">
              <a:lnSpc>
                <a:spcPct val="160000"/>
              </a:lnSpc>
              <a:buNone/>
            </a:pPr>
            <a:r>
              <a:rPr lang="en-US" sz="2000" dirty="0">
                <a:latin typeface="Times New Roman"/>
                <a:ea typeface="+mn-lt"/>
                <a:cs typeface="Times New Roman"/>
              </a:rPr>
              <a:t>Large Language Models (LLMs) such as ChatGPT, Claude, and Gemini are increasingly deployed in real‑world applications including customer support, healthcare, education, and enterprise automation. However, these systems are vulnerable to prompt injection attacks, where malicious inputs manipulate the model into ignoring safety policies, leaking confidential data, or performing unauthorized actions.</a:t>
            </a:r>
          </a:p>
          <a:p>
            <a:pPr marL="0" indent="0" algn="just">
              <a:lnSpc>
                <a:spcPct val="160000"/>
              </a:lnSpc>
              <a:buNone/>
            </a:pPr>
            <a:r>
              <a:rPr lang="en-US" sz="2000" dirty="0">
                <a:latin typeface="Times New Roman"/>
                <a:ea typeface="+mn-lt"/>
                <a:cs typeface="Times New Roman"/>
              </a:rPr>
              <a:t>This research proposes a hybrid detection framework that combines semantic analysis and behavioral analysis to identify malicious prompts before they influence model output. The system analyzes intent, instruction overrides, suspicious language patterns, and interaction behavior to classify prompts as safe or malicious.</a:t>
            </a:r>
          </a:p>
          <a:p>
            <a:pPr marL="0" indent="0" algn="just">
              <a:lnSpc>
                <a:spcPct val="160000"/>
              </a:lnSpc>
              <a:buNone/>
            </a:pPr>
            <a:r>
              <a:rPr lang="en-US" sz="2000" dirty="0">
                <a:latin typeface="Times New Roman"/>
                <a:ea typeface="+mn-lt"/>
                <a:cs typeface="Times New Roman"/>
              </a:rPr>
              <a:t>By preventing </a:t>
            </a:r>
            <a:r>
              <a:rPr lang="en-US" sz="2000" dirty="0" err="1">
                <a:latin typeface="Times New Roman"/>
                <a:ea typeface="+mn-lt"/>
                <a:cs typeface="Times New Roman"/>
              </a:rPr>
              <a:t>adversaral</a:t>
            </a:r>
            <a:r>
              <a:rPr lang="en-US" sz="2000" dirty="0">
                <a:latin typeface="Times New Roman"/>
                <a:ea typeface="+mn-lt"/>
                <a:cs typeface="Times New Roman"/>
              </a:rPr>
              <a:t> manipulation at the input stage, the proposed framework enhances the security, reliability, and trustworthiness of LLM‑based systems.</a:t>
            </a:r>
          </a:p>
        </p:txBody>
      </p:sp>
      <p:pic>
        <p:nvPicPr>
          <p:cNvPr id="4" name="image1.png">
            <a:extLst>
              <a:ext uri="{FF2B5EF4-FFF2-40B4-BE49-F238E27FC236}">
                <a16:creationId xmlns:a16="http://schemas.microsoft.com/office/drawing/2014/main" id="{8089EAAB-358A-20B7-A8B1-BB0BA8711F59}"/>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2904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C83C4-5491-A7B3-3B82-E3822042CD77}"/>
              </a:ext>
            </a:extLst>
          </p:cNvPr>
          <p:cNvSpPr>
            <a:spLocks noGrp="1"/>
          </p:cNvSpPr>
          <p:nvPr>
            <p:ph type="title"/>
          </p:nvPr>
        </p:nvSpPr>
        <p:spPr/>
        <p:txBody>
          <a:bodyPr>
            <a:normAutofit/>
          </a:bodyPr>
          <a:lstStyle/>
          <a:p>
            <a:pPr algn="ctr"/>
            <a:r>
              <a:rPr lang="en-US" sz="3200" b="1" dirty="0">
                <a:latin typeface="Times New Roman"/>
                <a:cs typeface="Times New Roman"/>
              </a:rPr>
              <a:t>INTRODUCTION </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C5818365-B71D-2EC1-1E99-696286595586}"/>
              </a:ext>
            </a:extLst>
          </p:cNvPr>
          <p:cNvSpPr>
            <a:spLocks noGrp="1"/>
          </p:cNvSpPr>
          <p:nvPr>
            <p:ph idx="1"/>
          </p:nvPr>
        </p:nvSpPr>
        <p:spPr/>
        <p:txBody>
          <a:bodyPr vert="horz" lIns="91440" tIns="45720" rIns="91440" bIns="45720" rtlCol="0" anchor="t">
            <a:normAutofit/>
          </a:bodyPr>
          <a:lstStyle/>
          <a:p>
            <a:pPr algn="just">
              <a:lnSpc>
                <a:spcPct val="150000"/>
              </a:lnSpc>
            </a:pPr>
            <a:r>
              <a:rPr lang="en-US" sz="1900" dirty="0">
                <a:latin typeface="Times New Roman"/>
                <a:ea typeface="+mn-lt"/>
                <a:cs typeface="Times New Roman"/>
              </a:rPr>
              <a:t>LLMs are widely used in AI assistants, enterprise tools, and automation systems</a:t>
            </a:r>
          </a:p>
          <a:p>
            <a:pPr algn="just">
              <a:lnSpc>
                <a:spcPct val="150000"/>
              </a:lnSpc>
            </a:pPr>
            <a:r>
              <a:rPr lang="en-US" sz="1900" dirty="0">
                <a:latin typeface="Times New Roman"/>
                <a:ea typeface="+mn-lt"/>
                <a:cs typeface="Times New Roman"/>
              </a:rPr>
              <a:t>These models follow natural language instructions without verifying intent</a:t>
            </a:r>
          </a:p>
          <a:p>
            <a:pPr algn="just">
              <a:lnSpc>
                <a:spcPct val="150000"/>
              </a:lnSpc>
            </a:pPr>
            <a:r>
              <a:rPr lang="en-US" sz="1900" dirty="0">
                <a:latin typeface="Times New Roman"/>
                <a:ea typeface="+mn-lt"/>
                <a:cs typeface="Times New Roman"/>
              </a:rPr>
              <a:t>Attackers exploit this behavior using prompt injection</a:t>
            </a:r>
          </a:p>
          <a:p>
            <a:pPr algn="just">
              <a:lnSpc>
                <a:spcPct val="150000"/>
              </a:lnSpc>
            </a:pPr>
            <a:r>
              <a:rPr lang="en-US" sz="1900" dirty="0">
                <a:latin typeface="Times New Roman"/>
                <a:ea typeface="+mn-lt"/>
                <a:cs typeface="Times New Roman"/>
              </a:rPr>
              <a:t>Malicious prompts can override safeguards and cause harmful actions</a:t>
            </a:r>
          </a:p>
          <a:p>
            <a:pPr algn="just">
              <a:lnSpc>
                <a:spcPct val="150000"/>
              </a:lnSpc>
            </a:pPr>
            <a:r>
              <a:rPr lang="en-US" sz="1900" dirty="0">
                <a:latin typeface="Times New Roman"/>
                <a:ea typeface="+mn-lt"/>
                <a:cs typeface="Times New Roman"/>
              </a:rPr>
              <a:t>Traditional cybersecurity tools cannot detect natural‑language attacks</a:t>
            </a:r>
          </a:p>
          <a:p>
            <a:pPr algn="just">
              <a:lnSpc>
                <a:spcPct val="150000"/>
              </a:lnSpc>
            </a:pPr>
            <a:r>
              <a:rPr lang="en-US" sz="1900" dirty="0">
                <a:latin typeface="Times New Roman"/>
                <a:ea typeface="+mn-lt"/>
                <a:cs typeface="Times New Roman"/>
              </a:rPr>
              <a:t>There is a need for intelligent detection mechanisms</a:t>
            </a:r>
            <a:endParaRPr lang="en-IN" sz="1900" dirty="0">
              <a:latin typeface="Times New Roman"/>
              <a:cs typeface="Times New Roman"/>
            </a:endParaRPr>
          </a:p>
        </p:txBody>
      </p:sp>
      <p:pic>
        <p:nvPicPr>
          <p:cNvPr id="4" name="image1.png">
            <a:extLst>
              <a:ext uri="{FF2B5EF4-FFF2-40B4-BE49-F238E27FC236}">
                <a16:creationId xmlns:a16="http://schemas.microsoft.com/office/drawing/2014/main" id="{360E96A1-F04E-0336-89EA-48F448226725}"/>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409938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7E6CF-46B8-8646-A3B8-BA47AE16FE2D}"/>
              </a:ext>
            </a:extLst>
          </p:cNvPr>
          <p:cNvSpPr>
            <a:spLocks noGrp="1"/>
          </p:cNvSpPr>
          <p:nvPr>
            <p:ph type="title"/>
          </p:nvPr>
        </p:nvSpPr>
        <p:spPr>
          <a:xfrm>
            <a:off x="838200" y="115041"/>
            <a:ext cx="10515600" cy="1470944"/>
          </a:xfrm>
        </p:spPr>
        <p:txBody>
          <a:bodyPr>
            <a:normAutofit/>
          </a:bodyPr>
          <a:lstStyle/>
          <a:p>
            <a:pPr algn="ctr"/>
            <a:r>
              <a:rPr lang="en-IN" sz="3200" b="1">
                <a:latin typeface="Times New Roman"/>
                <a:cs typeface="Times New Roman"/>
              </a:rPr>
              <a:t>EXISTING SYSTEM AND ITS LIMITATIONS</a:t>
            </a:r>
            <a:endParaRPr lang="en-US" sz="3200" dirty="0">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75C80723-619E-0E3D-54BD-E577341D6CCE}"/>
              </a:ext>
            </a:extLst>
          </p:cNvPr>
          <p:cNvSpPr>
            <a:spLocks noGrp="1"/>
          </p:cNvSpPr>
          <p:nvPr>
            <p:ph idx="1"/>
          </p:nvPr>
        </p:nvSpPr>
        <p:spPr>
          <a:xfrm>
            <a:off x="838200" y="1366529"/>
            <a:ext cx="10907486" cy="5272015"/>
          </a:xfrm>
        </p:spPr>
        <p:txBody>
          <a:bodyPr vert="horz" lIns="91440" tIns="45720" rIns="91440" bIns="45720" rtlCol="0" anchor="t">
            <a:noAutofit/>
          </a:bodyPr>
          <a:lstStyle/>
          <a:p>
            <a:pPr marL="0" indent="0">
              <a:lnSpc>
                <a:spcPct val="100000"/>
              </a:lnSpc>
              <a:buNone/>
            </a:pPr>
            <a:r>
              <a:rPr lang="en-US" sz="1900" b="1">
                <a:latin typeface="Times New Roman" panose="02020603050405020304" pitchFamily="18" charset="0"/>
                <a:cs typeface="Times New Roman" panose="02020603050405020304" pitchFamily="18" charset="0"/>
              </a:rPr>
              <a:t>Existing Systems</a:t>
            </a:r>
            <a:endParaRPr lang="en-US" sz="1900">
              <a:latin typeface="Times New Roman" panose="02020603050405020304" pitchFamily="18" charset="0"/>
              <a:ea typeface="Calibri" panose="020F0502020204030204"/>
              <a:cs typeface="Times New Roman" panose="02020603050405020304" pitchFamily="18" charset="0"/>
            </a:endParaRPr>
          </a:p>
          <a:p>
            <a:pPr>
              <a:lnSpc>
                <a:spcPct val="100000"/>
              </a:lnSpc>
            </a:pPr>
            <a:r>
              <a:rPr lang="en-US" sz="1900">
                <a:latin typeface="Times New Roman" panose="02020603050405020304" pitchFamily="18" charset="0"/>
                <a:cs typeface="Times New Roman" panose="02020603050405020304" pitchFamily="18" charset="0"/>
              </a:rPr>
              <a:t>Basic keyword filtering</a:t>
            </a:r>
          </a:p>
          <a:p>
            <a:pPr>
              <a:lnSpc>
                <a:spcPct val="100000"/>
              </a:lnSpc>
            </a:pPr>
            <a:r>
              <a:rPr lang="en-US" sz="1900">
                <a:latin typeface="Times New Roman" panose="02020603050405020304" pitchFamily="18" charset="0"/>
                <a:cs typeface="Times New Roman" panose="02020603050405020304" pitchFamily="18" charset="0"/>
              </a:rPr>
              <a:t>Rule‑based moderation</a:t>
            </a:r>
          </a:p>
          <a:p>
            <a:pPr>
              <a:lnSpc>
                <a:spcPct val="100000"/>
              </a:lnSpc>
            </a:pPr>
            <a:r>
              <a:rPr lang="en-US" sz="1900">
                <a:latin typeface="Times New Roman" panose="02020603050405020304" pitchFamily="18" charset="0"/>
                <a:cs typeface="Times New Roman" panose="02020603050405020304" pitchFamily="18" charset="0"/>
              </a:rPr>
              <a:t>Output monitoring systems</a:t>
            </a:r>
          </a:p>
          <a:p>
            <a:pPr>
              <a:lnSpc>
                <a:spcPct val="100000"/>
              </a:lnSpc>
            </a:pPr>
            <a:r>
              <a:rPr lang="en-US" sz="1900">
                <a:latin typeface="Times New Roman" panose="02020603050405020304" pitchFamily="18" charset="0"/>
                <a:cs typeface="Times New Roman" panose="02020603050405020304" pitchFamily="18" charset="0"/>
              </a:rPr>
              <a:t>Manual prompt review</a:t>
            </a:r>
          </a:p>
          <a:p>
            <a:pPr>
              <a:lnSpc>
                <a:spcPct val="100000"/>
              </a:lnSpc>
            </a:pPr>
            <a:r>
              <a:rPr lang="en-US" sz="1900">
                <a:latin typeface="Times New Roman" panose="02020603050405020304" pitchFamily="18" charset="0"/>
                <a:cs typeface="Times New Roman" panose="02020603050405020304" pitchFamily="18" charset="0"/>
              </a:rPr>
              <a:t>Access control mechanisms</a:t>
            </a:r>
          </a:p>
          <a:p>
            <a:pPr marL="0" indent="0">
              <a:lnSpc>
                <a:spcPct val="100000"/>
              </a:lnSpc>
              <a:buNone/>
            </a:pPr>
            <a:r>
              <a:rPr lang="en-US" sz="1900" b="1">
                <a:latin typeface="Times New Roman" panose="02020603050405020304" pitchFamily="18" charset="0"/>
                <a:cs typeface="Times New Roman" panose="02020603050405020304" pitchFamily="18" charset="0"/>
              </a:rPr>
              <a:t>Limitations</a:t>
            </a:r>
          </a:p>
          <a:p>
            <a:pPr>
              <a:lnSpc>
                <a:spcPct val="100000"/>
              </a:lnSpc>
            </a:pPr>
            <a:r>
              <a:rPr lang="en-US" sz="1900">
                <a:latin typeface="Times New Roman" panose="02020603050405020304" pitchFamily="18" charset="0"/>
                <a:cs typeface="Times New Roman" panose="02020603050405020304" pitchFamily="18" charset="0"/>
              </a:rPr>
              <a:t>Easily bypassed through paraphrasing</a:t>
            </a:r>
          </a:p>
          <a:p>
            <a:pPr>
              <a:lnSpc>
                <a:spcPct val="100000"/>
              </a:lnSpc>
            </a:pPr>
            <a:r>
              <a:rPr lang="en-US" sz="1900">
                <a:latin typeface="Times New Roman" panose="02020603050405020304" pitchFamily="18" charset="0"/>
                <a:cs typeface="Times New Roman" panose="02020603050405020304" pitchFamily="18" charset="0"/>
              </a:rPr>
              <a:t>Cannot detect semantic manipulation</a:t>
            </a:r>
          </a:p>
          <a:p>
            <a:pPr>
              <a:lnSpc>
                <a:spcPct val="100000"/>
              </a:lnSpc>
            </a:pPr>
            <a:r>
              <a:rPr lang="en-US" sz="1900">
                <a:latin typeface="Times New Roman" panose="02020603050405020304" pitchFamily="18" charset="0"/>
                <a:cs typeface="Times New Roman" panose="02020603050405020304" pitchFamily="18" charset="0"/>
              </a:rPr>
              <a:t>No understanding of malicious intent</a:t>
            </a:r>
          </a:p>
          <a:p>
            <a:pPr>
              <a:lnSpc>
                <a:spcPct val="100000"/>
              </a:lnSpc>
            </a:pPr>
            <a:r>
              <a:rPr lang="en-US" sz="1900">
                <a:latin typeface="Times New Roman" panose="02020603050405020304" pitchFamily="18" charset="0"/>
                <a:cs typeface="Times New Roman" panose="02020603050405020304" pitchFamily="18" charset="0"/>
              </a:rPr>
              <a:t>Unable to detect indirect attacks</a:t>
            </a:r>
          </a:p>
          <a:p>
            <a:pPr>
              <a:lnSpc>
                <a:spcPct val="100000"/>
              </a:lnSpc>
            </a:pPr>
            <a:r>
              <a:rPr lang="en-US" sz="1900">
                <a:latin typeface="Times New Roman" panose="02020603050405020304" pitchFamily="18" charset="0"/>
                <a:cs typeface="Times New Roman" panose="02020603050405020304" pitchFamily="18" charset="0"/>
              </a:rPr>
              <a:t>Lack of behavioral analysis</a:t>
            </a:r>
            <a:endParaRPr lang="en-US" sz="1900" dirty="0">
              <a:latin typeface="Times New Roman" panose="02020603050405020304" pitchFamily="18" charset="0"/>
              <a:cs typeface="Times New Roman" panose="02020603050405020304" pitchFamily="18" charset="0"/>
            </a:endParaRPr>
          </a:p>
        </p:txBody>
      </p:sp>
      <p:pic>
        <p:nvPicPr>
          <p:cNvPr id="4" name="image1.png">
            <a:extLst>
              <a:ext uri="{FF2B5EF4-FFF2-40B4-BE49-F238E27FC236}">
                <a16:creationId xmlns:a16="http://schemas.microsoft.com/office/drawing/2014/main" id="{345A10F4-FBDE-A017-EC5F-12D1FD1A3D67}"/>
              </a:ext>
            </a:extLst>
          </p:cNvPr>
          <p:cNvPicPr/>
          <p:nvPr/>
        </p:nvPicPr>
        <p:blipFill>
          <a:blip r:embed="rId2"/>
          <a:srcRect t="18788" b="16969"/>
          <a:stretch>
            <a:fillRect/>
          </a:stretch>
        </p:blipFill>
        <p:spPr>
          <a:xfrm>
            <a:off x="10027443" y="354864"/>
            <a:ext cx="1606233" cy="771842"/>
          </a:xfrm>
          <a:prstGeom prst="rect">
            <a:avLst/>
          </a:prstGeom>
          <a:ln/>
        </p:spPr>
      </p:pic>
    </p:spTree>
    <p:extLst>
      <p:ext uri="{BB962C8B-B14F-4D97-AF65-F5344CB8AC3E}">
        <p14:creationId xmlns:p14="http://schemas.microsoft.com/office/powerpoint/2010/main" val="2110690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8D033-39A6-004B-B2A5-33AA971E08D8}"/>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MOTIVATION</a:t>
            </a:r>
            <a:endParaRPr lang="en-IN" sz="3200" b="1"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C3C77C42-5ACB-46E2-92AA-5F81C0936E8D}"/>
              </a:ext>
            </a:extLst>
          </p:cNvPr>
          <p:cNvSpPr>
            <a:spLocks noGrp="1" noChangeArrowheads="1"/>
          </p:cNvSpPr>
          <p:nvPr>
            <p:ph idx="1"/>
          </p:nvPr>
        </p:nvSpPr>
        <p:spPr bwMode="auto">
          <a:xfrm>
            <a:off x="838200" y="1754022"/>
            <a:ext cx="10885714"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Rapid adoption of LLMs in sensitive domains</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Increasing cases of AI misuse and jailbreak attacks</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Risk of confidential data leakage</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reliable real‑time defense mechanisms</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secure AI deployment</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 of maintaining trust in AI systems</a:t>
            </a:r>
          </a:p>
        </p:txBody>
      </p:sp>
      <p:pic>
        <p:nvPicPr>
          <p:cNvPr id="3" name="image1.png">
            <a:extLst>
              <a:ext uri="{FF2B5EF4-FFF2-40B4-BE49-F238E27FC236}">
                <a16:creationId xmlns:a16="http://schemas.microsoft.com/office/drawing/2014/main" id="{CC33FD03-A836-0954-AE95-2B0B7670D293}"/>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1638868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83AC-C9D1-B6D4-040C-724BFC7CDDCE}"/>
              </a:ext>
            </a:extLst>
          </p:cNvPr>
          <p:cNvSpPr>
            <a:spLocks noGrp="1"/>
          </p:cNvSpPr>
          <p:nvPr>
            <p:ph type="title"/>
          </p:nvPr>
        </p:nvSpPr>
        <p:spPr/>
        <p:txBody>
          <a:bodyPr>
            <a:normAutofit/>
          </a:bodyPr>
          <a:lstStyle/>
          <a:p>
            <a:pPr algn="ctr"/>
            <a:r>
              <a:rPr lang="en-US" sz="3200" b="1" dirty="0">
                <a:latin typeface="Times New Roman"/>
                <a:cs typeface="Times New Roman"/>
              </a:rPr>
              <a:t> PROPOSED SYSTEM AND ITS ADVANTAGES</a:t>
            </a:r>
            <a:endParaRPr lang="en-US" sz="3200" dirty="0">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71A20B85-F39D-6E89-B7B2-2164E6B50291}"/>
              </a:ext>
            </a:extLst>
          </p:cNvPr>
          <p:cNvSpPr>
            <a:spLocks noGrp="1"/>
          </p:cNvSpPr>
          <p:nvPr>
            <p:ph idx="1"/>
          </p:nvPr>
        </p:nvSpPr>
        <p:spPr>
          <a:xfrm>
            <a:off x="838200" y="1788273"/>
            <a:ext cx="10515600" cy="4388690"/>
          </a:xfrm>
        </p:spPr>
        <p:txBody>
          <a:bodyPr vert="horz" lIns="91440" tIns="45720" rIns="91440" bIns="45720" rtlCol="0" anchor="t">
            <a:noAutofit/>
          </a:bodyPr>
          <a:lstStyle/>
          <a:p>
            <a:pPr marL="0" indent="0" algn="just">
              <a:lnSpc>
                <a:spcPct val="100000"/>
              </a:lnSpc>
              <a:buNone/>
            </a:pPr>
            <a:r>
              <a:rPr lang="en-US" sz="1600" b="1" dirty="0">
                <a:latin typeface="Times New Roman" panose="02020603050405020304" pitchFamily="18" charset="0"/>
                <a:cs typeface="Times New Roman" panose="02020603050405020304" pitchFamily="18" charset="0"/>
              </a:rPr>
              <a:t>Proposed System:</a:t>
            </a:r>
            <a:endParaRPr lang="en-US" sz="1600" dirty="0">
              <a:latin typeface="Times New Roman" panose="02020603050405020304" pitchFamily="18" charset="0"/>
              <a:ea typeface="Calibri"/>
              <a:cs typeface="Times New Roman" panose="02020603050405020304" pitchFamily="18" charset="0"/>
            </a:endParaRPr>
          </a:p>
          <a:p>
            <a:pPr marL="0" indent="0">
              <a:lnSpc>
                <a:spcPct val="100000"/>
              </a:lnSpc>
              <a:buNone/>
            </a:pPr>
            <a:r>
              <a:rPr lang="en-IN" sz="1600" dirty="0">
                <a:latin typeface="Times New Roman" panose="02020603050405020304" pitchFamily="18" charset="0"/>
                <a:cs typeface="Times New Roman" panose="02020603050405020304" pitchFamily="18" charset="0"/>
              </a:rPr>
              <a:t>A hybrid prompt injection detection framework integrating:</a:t>
            </a:r>
          </a:p>
          <a:p>
            <a:pPr>
              <a:lnSpc>
                <a:spcPct val="100000"/>
              </a:lnSpc>
            </a:pPr>
            <a:r>
              <a:rPr lang="en-IN" sz="1600" dirty="0">
                <a:latin typeface="Times New Roman" panose="02020603050405020304" pitchFamily="18" charset="0"/>
                <a:cs typeface="Times New Roman" panose="02020603050405020304" pitchFamily="18" charset="0"/>
              </a:rPr>
              <a:t>Semantic intent analysis</a:t>
            </a:r>
          </a:p>
          <a:p>
            <a:pPr>
              <a:lnSpc>
                <a:spcPct val="100000"/>
              </a:lnSpc>
            </a:pPr>
            <a:r>
              <a:rPr lang="en-IN" sz="1600" dirty="0" err="1">
                <a:latin typeface="Times New Roman" panose="02020603050405020304" pitchFamily="18" charset="0"/>
                <a:cs typeface="Times New Roman" panose="02020603050405020304" pitchFamily="18" charset="0"/>
              </a:rPr>
              <a:t>Behavioral</a:t>
            </a:r>
            <a:r>
              <a:rPr lang="en-IN" sz="1600" dirty="0">
                <a:latin typeface="Times New Roman" panose="02020603050405020304" pitchFamily="18" charset="0"/>
                <a:cs typeface="Times New Roman" panose="02020603050405020304" pitchFamily="18" charset="0"/>
              </a:rPr>
              <a:t> pattern monitoring</a:t>
            </a:r>
          </a:p>
          <a:p>
            <a:pPr>
              <a:lnSpc>
                <a:spcPct val="100000"/>
              </a:lnSpc>
            </a:pPr>
            <a:r>
              <a:rPr lang="en-IN" sz="1600" dirty="0">
                <a:latin typeface="Times New Roman" panose="02020603050405020304" pitchFamily="18" charset="0"/>
                <a:cs typeface="Times New Roman" panose="02020603050405020304" pitchFamily="18" charset="0"/>
              </a:rPr>
              <a:t>Risk scoring and classification</a:t>
            </a:r>
          </a:p>
          <a:p>
            <a:pPr>
              <a:lnSpc>
                <a:spcPct val="100000"/>
              </a:lnSpc>
            </a:pPr>
            <a:r>
              <a:rPr lang="en-IN" sz="1600" dirty="0">
                <a:latin typeface="Times New Roman" panose="02020603050405020304" pitchFamily="18" charset="0"/>
                <a:cs typeface="Times New Roman" panose="02020603050405020304" pitchFamily="18" charset="0"/>
              </a:rPr>
              <a:t>Real‑time input validation</a:t>
            </a:r>
          </a:p>
          <a:p>
            <a:pPr marL="0" indent="0" algn="just">
              <a:lnSpc>
                <a:spcPct val="100000"/>
              </a:lnSpc>
              <a:buNone/>
            </a:pPr>
            <a:r>
              <a:rPr lang="en-IN" sz="1600" b="1" dirty="0">
                <a:latin typeface="Times New Roman" panose="02020603050405020304" pitchFamily="18" charset="0"/>
                <a:cs typeface="Times New Roman" panose="02020603050405020304" pitchFamily="18" charset="0"/>
              </a:rPr>
              <a:t>Core Components</a:t>
            </a:r>
          </a:p>
          <a:p>
            <a:pPr>
              <a:lnSpc>
                <a:spcPct val="100000"/>
              </a:lnSpc>
            </a:pPr>
            <a:r>
              <a:rPr lang="en-US" sz="1600" dirty="0">
                <a:latin typeface="Times New Roman" panose="02020603050405020304" pitchFamily="18" charset="0"/>
                <a:cs typeface="Times New Roman" panose="02020603050405020304" pitchFamily="18" charset="0"/>
              </a:rPr>
              <a:t>Semantic Analysis Module</a:t>
            </a:r>
          </a:p>
          <a:p>
            <a:pPr>
              <a:lnSpc>
                <a:spcPct val="100000"/>
              </a:lnSpc>
            </a:pPr>
            <a:r>
              <a:rPr lang="en-US" sz="1600" dirty="0">
                <a:latin typeface="Times New Roman" panose="02020603050405020304" pitchFamily="18" charset="0"/>
                <a:cs typeface="Times New Roman" panose="02020603050405020304" pitchFamily="18" charset="0"/>
              </a:rPr>
              <a:t>Behavioral Analysis Module</a:t>
            </a:r>
          </a:p>
          <a:p>
            <a:pPr>
              <a:lnSpc>
                <a:spcPct val="100000"/>
              </a:lnSpc>
            </a:pPr>
            <a:r>
              <a:rPr lang="en-US" sz="1600" dirty="0">
                <a:latin typeface="Times New Roman" panose="02020603050405020304" pitchFamily="18" charset="0"/>
                <a:cs typeface="Times New Roman" panose="02020603050405020304" pitchFamily="18" charset="0"/>
              </a:rPr>
              <a:t>Decision Engine</a:t>
            </a:r>
          </a:p>
          <a:p>
            <a:pPr>
              <a:lnSpc>
                <a:spcPct val="100000"/>
              </a:lnSpc>
            </a:pPr>
            <a:r>
              <a:rPr lang="en-US" sz="1600" dirty="0">
                <a:latin typeface="Times New Roman" panose="02020603050405020304" pitchFamily="18" charset="0"/>
                <a:cs typeface="Times New Roman" panose="02020603050405020304" pitchFamily="18" charset="0"/>
              </a:rPr>
              <a:t>Alert &amp; Blocking Mechanism</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ea typeface="Calibri"/>
              <a:cs typeface="Times New Roman" panose="02020603050405020304" pitchFamily="18" charset="0"/>
            </a:endParaRPr>
          </a:p>
        </p:txBody>
      </p:sp>
      <p:pic>
        <p:nvPicPr>
          <p:cNvPr id="4" name="image1.png">
            <a:extLst>
              <a:ext uri="{FF2B5EF4-FFF2-40B4-BE49-F238E27FC236}">
                <a16:creationId xmlns:a16="http://schemas.microsoft.com/office/drawing/2014/main" id="{736F98AC-0240-794F-3AC6-F24FAF157562}"/>
              </a:ext>
            </a:extLst>
          </p:cNvPr>
          <p:cNvPicPr/>
          <p:nvPr/>
        </p:nvPicPr>
        <p:blipFill>
          <a:blip r:embed="rId2"/>
          <a:srcRect t="18788" b="16969"/>
          <a:stretch>
            <a:fillRect/>
          </a:stretch>
        </p:blipFill>
        <p:spPr>
          <a:xfrm>
            <a:off x="10403363" y="167641"/>
            <a:ext cx="1606233" cy="771842"/>
          </a:xfrm>
          <a:prstGeom prst="rect">
            <a:avLst/>
          </a:prstGeom>
          <a:ln/>
        </p:spPr>
      </p:pic>
    </p:spTree>
    <p:extLst>
      <p:ext uri="{BB962C8B-B14F-4D97-AF65-F5344CB8AC3E}">
        <p14:creationId xmlns:p14="http://schemas.microsoft.com/office/powerpoint/2010/main" val="137124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67FDB5-4E87-2B31-88EF-C923ECE6E2E1}"/>
              </a:ext>
            </a:extLst>
          </p:cNvPr>
          <p:cNvSpPr>
            <a:spLocks noGrp="1"/>
          </p:cNvSpPr>
          <p:nvPr>
            <p:ph idx="1"/>
          </p:nvPr>
        </p:nvSpPr>
        <p:spPr/>
        <p:txBody>
          <a:bodyPr vert="horz" lIns="91440" tIns="45720" rIns="91440" bIns="45720" rtlCol="0" anchor="t">
            <a:normAutofit/>
          </a:bodyPr>
          <a:lstStyle/>
          <a:p>
            <a:pPr marL="0" indent="0" algn="just">
              <a:buNone/>
            </a:pPr>
            <a:endParaRPr lang="en-US" b="1" dirty="0"/>
          </a:p>
          <a:p>
            <a:pPr algn="just"/>
            <a:r>
              <a:rPr lang="en-US" sz="2000" dirty="0">
                <a:latin typeface="Times New Roman"/>
                <a:cs typeface="Times New Roman"/>
              </a:rPr>
              <a:t>Detects malicious intent beyond keywords</a:t>
            </a:r>
          </a:p>
          <a:p>
            <a:pPr algn="just"/>
            <a:r>
              <a:rPr lang="en-US" sz="2000" dirty="0">
                <a:latin typeface="Times New Roman"/>
                <a:cs typeface="Times New Roman"/>
              </a:rPr>
              <a:t>Resistant to paraphrased attacks</a:t>
            </a:r>
          </a:p>
          <a:p>
            <a:pPr algn="just"/>
            <a:r>
              <a:rPr lang="en-US" sz="2000" dirty="0">
                <a:latin typeface="Times New Roman"/>
                <a:cs typeface="Times New Roman"/>
              </a:rPr>
              <a:t>Real‑time prevention before model response</a:t>
            </a:r>
          </a:p>
          <a:p>
            <a:pPr algn="just"/>
            <a:r>
              <a:rPr lang="en-US" sz="2000" dirty="0">
                <a:latin typeface="Times New Roman"/>
                <a:cs typeface="Times New Roman"/>
              </a:rPr>
              <a:t>Supports indirect attack detection</a:t>
            </a:r>
          </a:p>
          <a:p>
            <a:pPr algn="just"/>
            <a:r>
              <a:rPr lang="en-US" sz="2000" dirty="0">
                <a:latin typeface="Times New Roman"/>
                <a:cs typeface="Times New Roman"/>
              </a:rPr>
              <a:t>Improves AI system security</a:t>
            </a:r>
          </a:p>
          <a:p>
            <a:pPr algn="just"/>
            <a:r>
              <a:rPr lang="en-US" sz="2000" dirty="0">
                <a:latin typeface="Times New Roman"/>
                <a:cs typeface="Times New Roman"/>
              </a:rPr>
              <a:t>Enhances reliability of LLM applications</a:t>
            </a:r>
            <a:endParaRPr lang="en-IN" sz="20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2" name="Title 1">
            <a:extLst>
              <a:ext uri="{FF2B5EF4-FFF2-40B4-BE49-F238E27FC236}">
                <a16:creationId xmlns:a16="http://schemas.microsoft.com/office/drawing/2014/main" id="{EF13319B-E44C-D2C7-900B-9040B08C782A}"/>
              </a:ext>
            </a:extLst>
          </p:cNvPr>
          <p:cNvSpPr>
            <a:spLocks noGrp="1"/>
          </p:cNvSpPr>
          <p:nvPr>
            <p:ph type="title"/>
          </p:nvPr>
        </p:nvSpPr>
        <p:spPr>
          <a:xfrm>
            <a:off x="838200" y="365125"/>
            <a:ext cx="10515600" cy="1325563"/>
          </a:xfrm>
        </p:spPr>
        <p:txBody>
          <a:bodyPr>
            <a:normAutofit/>
          </a:bodyPr>
          <a:lstStyle/>
          <a:p>
            <a:pPr algn="ctr"/>
            <a:r>
              <a:rPr lang="en-IN" sz="3200" b="1" dirty="0">
                <a:latin typeface="Times New Roman"/>
                <a:cs typeface="Times New Roman"/>
              </a:rPr>
              <a:t>ADVANTAGES</a:t>
            </a:r>
          </a:p>
        </p:txBody>
      </p:sp>
      <p:pic>
        <p:nvPicPr>
          <p:cNvPr id="4" name="image1.png">
            <a:extLst>
              <a:ext uri="{FF2B5EF4-FFF2-40B4-BE49-F238E27FC236}">
                <a16:creationId xmlns:a16="http://schemas.microsoft.com/office/drawing/2014/main" id="{4B9E65A2-BEAB-4BD1-3EC8-C6243F1263DF}"/>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1485328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B9462-78FD-7900-A536-7FF81E2317AA}"/>
              </a:ext>
            </a:extLst>
          </p:cNvPr>
          <p:cNvSpPr>
            <a:spLocks noGrp="1"/>
          </p:cNvSpPr>
          <p:nvPr>
            <p:ph type="title"/>
          </p:nvPr>
        </p:nvSpPr>
        <p:spPr/>
        <p:txBody>
          <a:bodyPr>
            <a:normAutofit/>
          </a:bodyPr>
          <a:lstStyle/>
          <a:p>
            <a:pPr algn="ctr"/>
            <a:r>
              <a:rPr lang="en-US" sz="3200" b="1" dirty="0">
                <a:latin typeface="Times New Roman"/>
                <a:cs typeface="Times New Roman"/>
              </a:rPr>
              <a:t>PROBLEM STATEMENT</a:t>
            </a:r>
          </a:p>
        </p:txBody>
      </p:sp>
      <p:sp>
        <p:nvSpPr>
          <p:cNvPr id="3" name="Content Placeholder 2">
            <a:extLst>
              <a:ext uri="{FF2B5EF4-FFF2-40B4-BE49-F238E27FC236}">
                <a16:creationId xmlns:a16="http://schemas.microsoft.com/office/drawing/2014/main" id="{C7C0F5AC-5D71-6CA2-CF03-A2600A29455F}"/>
              </a:ext>
            </a:extLst>
          </p:cNvPr>
          <p:cNvSpPr>
            <a:spLocks noGrp="1"/>
          </p:cNvSpPr>
          <p:nvPr>
            <p:ph idx="1"/>
          </p:nvPr>
        </p:nvSpPr>
        <p:spPr/>
        <p:txBody>
          <a:bodyPr vert="horz" lIns="91440" tIns="45720" rIns="91440" bIns="45720" rtlCol="0" anchor="t">
            <a:normAutofit/>
          </a:bodyPr>
          <a:lstStyle/>
          <a:p>
            <a:pPr marL="0" indent="0" algn="just">
              <a:lnSpc>
                <a:spcPct val="150000"/>
              </a:lnSpc>
              <a:buNone/>
            </a:pPr>
            <a:r>
              <a:rPr lang="en-US" sz="2000" dirty="0">
                <a:latin typeface="Times New Roman"/>
                <a:cs typeface="Times New Roman"/>
              </a:rPr>
              <a:t>Prompt injection attacks exploit the instruction‑following nature of LLMs by embedding malicious commands within user inputs. These attacks can cause models to bypass safety rules, reveal confidential information, or generate harmful outputs.</a:t>
            </a:r>
          </a:p>
          <a:p>
            <a:pPr marL="0" indent="0" algn="just">
              <a:lnSpc>
                <a:spcPct val="150000"/>
              </a:lnSpc>
              <a:buNone/>
            </a:pPr>
            <a:r>
              <a:rPr lang="en-US" sz="2000" dirty="0">
                <a:latin typeface="Times New Roman"/>
                <a:cs typeface="Times New Roman"/>
              </a:rPr>
              <a:t>Existing defenses rely primarily on rule‑based filtering and post‑response moderation, which are ineffective against sophisticated adversarial prompts. There is a critical need for a robust detection mechanism that can analyze both the semantic meaning of prompts and the behavioral patterns of user interactions to prevent manipulation of LLM systems.</a:t>
            </a:r>
          </a:p>
        </p:txBody>
      </p:sp>
      <p:pic>
        <p:nvPicPr>
          <p:cNvPr id="4" name="image1.png">
            <a:extLst>
              <a:ext uri="{FF2B5EF4-FFF2-40B4-BE49-F238E27FC236}">
                <a16:creationId xmlns:a16="http://schemas.microsoft.com/office/drawing/2014/main" id="{E121439D-0A48-3DDE-16A0-8D51EF149847}"/>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2593674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CA0EF-D2CE-4FB4-7C31-C6976D039D2D}"/>
              </a:ext>
            </a:extLst>
          </p:cNvPr>
          <p:cNvSpPr>
            <a:spLocks noGrp="1"/>
          </p:cNvSpPr>
          <p:nvPr>
            <p:ph type="title"/>
          </p:nvPr>
        </p:nvSpPr>
        <p:spPr/>
        <p:txBody>
          <a:bodyPr>
            <a:normAutofit/>
          </a:bodyPr>
          <a:lstStyle/>
          <a:p>
            <a:pPr algn="ctr"/>
            <a:r>
              <a:rPr lang="en-US" sz="3200" b="1" dirty="0">
                <a:latin typeface="Times New Roman"/>
                <a:cs typeface="Times New Roman"/>
              </a:rPr>
              <a:t>OBJECTIVES</a:t>
            </a:r>
            <a:endParaRPr lang="en-US" sz="3200" dirty="0">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4E77E7F4-8298-EABD-89AC-C214C88939A2}"/>
              </a:ext>
            </a:extLst>
          </p:cNvPr>
          <p:cNvSpPr>
            <a:spLocks noGrp="1"/>
          </p:cNvSpPr>
          <p:nvPr>
            <p:ph idx="1"/>
          </p:nvPr>
        </p:nvSpPr>
        <p:spPr>
          <a:xfrm>
            <a:off x="838200" y="1825625"/>
            <a:ext cx="10585784" cy="4351338"/>
          </a:xfrm>
        </p:spPr>
        <p:txBody>
          <a:bodyPr vert="horz" lIns="91440" tIns="45720" rIns="91440" bIns="45720" rtlCol="0" anchor="t">
            <a:normAutofit lnSpcReduction="10000"/>
          </a:bodyPr>
          <a:lstStyle/>
          <a:p>
            <a:pPr algn="just">
              <a:lnSpc>
                <a:spcPct val="150000"/>
              </a:lnSpc>
            </a:pPr>
            <a:r>
              <a:rPr lang="en-US" sz="2000" dirty="0">
                <a:latin typeface="Times New Roman"/>
                <a:cs typeface="Times New Roman"/>
              </a:rPr>
              <a:t>The primary objective of this project is to investigate the vulnerabilities of large language models to prompt injection attacks and to develop an effective detection mechanism to mitigate such threats. The study aims to analyze the semantic characteristics of malicious prompts, including attempts to override instructions, extract sensitive information, or manipulate model behavior. Additionally, the project seeks to identify behavioral patterns associated with adversarial interactions, such as repeated attempts to bypass safeguards or gradual escalation of malicious intent. By combining semantic analysis and behavioral monitoring, the project proposes to design a hybrid detection framework capable of identifying and classifying prompts as safe, suspicious, or malicious in real time. Finally, the effectiveness of the system will be evaluated using standard performance metrics to ensure reliability and applicability in real‑world LLM deployments.</a:t>
            </a:r>
            <a:endParaRPr lang="en-US" sz="2000" dirty="0">
              <a:latin typeface="Times New Roman"/>
              <a:ea typeface="Calibri"/>
              <a:cs typeface="Times New Roman"/>
            </a:endParaRPr>
          </a:p>
        </p:txBody>
      </p:sp>
      <p:pic>
        <p:nvPicPr>
          <p:cNvPr id="4" name="image1.png">
            <a:extLst>
              <a:ext uri="{FF2B5EF4-FFF2-40B4-BE49-F238E27FC236}">
                <a16:creationId xmlns:a16="http://schemas.microsoft.com/office/drawing/2014/main" id="{59480205-E204-B620-0ED5-B1AFE8D289AD}"/>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4236925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B0CB-B508-A83F-41D4-FA74A902C314}"/>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057492B7-F73C-DF67-A985-86E7B20D20DA}"/>
              </a:ext>
            </a:extLst>
          </p:cNvPr>
          <p:cNvGraphicFramePr>
            <a:graphicFrameLocks noGrp="1"/>
          </p:cNvGraphicFramePr>
          <p:nvPr>
            <p:ph idx="1"/>
            <p:extLst>
              <p:ext uri="{D42A27DB-BD31-4B8C-83A1-F6EECF244321}">
                <p14:modId xmlns:p14="http://schemas.microsoft.com/office/powerpoint/2010/main" val="2154699103"/>
              </p:ext>
            </p:extLst>
          </p:nvPr>
        </p:nvGraphicFramePr>
        <p:xfrm>
          <a:off x="838200" y="1825625"/>
          <a:ext cx="10515600" cy="374904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811622105"/>
                    </a:ext>
                  </a:extLst>
                </a:gridCol>
                <a:gridCol w="2628900">
                  <a:extLst>
                    <a:ext uri="{9D8B030D-6E8A-4147-A177-3AD203B41FA5}">
                      <a16:colId xmlns:a16="http://schemas.microsoft.com/office/drawing/2014/main" val="3309788006"/>
                    </a:ext>
                  </a:extLst>
                </a:gridCol>
                <a:gridCol w="2628900">
                  <a:extLst>
                    <a:ext uri="{9D8B030D-6E8A-4147-A177-3AD203B41FA5}">
                      <a16:colId xmlns:a16="http://schemas.microsoft.com/office/drawing/2014/main" val="1549203288"/>
                    </a:ext>
                  </a:extLst>
                </a:gridCol>
                <a:gridCol w="2628900">
                  <a:extLst>
                    <a:ext uri="{9D8B030D-6E8A-4147-A177-3AD203B41FA5}">
                      <a16:colId xmlns:a16="http://schemas.microsoft.com/office/drawing/2014/main" val="1852230661"/>
                    </a:ext>
                  </a:extLst>
                </a:gridCol>
              </a:tblGrid>
              <a:tr h="370840">
                <a:tc>
                  <a:txBody>
                    <a:bodyPr/>
                    <a:lstStyle/>
                    <a:p>
                      <a:pPr>
                        <a:buNone/>
                      </a:pPr>
                      <a:r>
                        <a:rPr lang="en-IN"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nchor="ctr"/>
                </a:tc>
                <a:tc>
                  <a:txBody>
                    <a:bodyPr/>
                    <a:lstStyle/>
                    <a:p>
                      <a:pPr lvl="0" algn="l">
                        <a:lnSpc>
                          <a:spcPct val="100000"/>
                        </a:lnSpc>
                        <a:spcBef>
                          <a:spcPts val="0"/>
                        </a:spcBef>
                        <a:spcAft>
                          <a:spcPts val="0"/>
                        </a:spcAft>
                        <a:buNone/>
                      </a:pPr>
                      <a:r>
                        <a:rPr lang="en-US" sz="1800" b="0" i="0" u="none" strike="noStrike" noProof="0" dirty="0">
                          <a:solidFill>
                            <a:srgbClr val="FFFFFF"/>
                          </a:solidFill>
                          <a:latin typeface="Times New Roman" panose="02020603050405020304" pitchFamily="18" charset="0"/>
                          <a:ea typeface="Calibri"/>
                          <a:cs typeface="Times New Roman" panose="02020603050405020304" pitchFamily="18" charset="0"/>
                        </a:rPr>
                        <a:t>Title (Name of the journal, author, and publication</a:t>
                      </a:r>
                      <a:endParaRPr lang="en-US" sz="1800" b="1" i="0" u="none" strike="noStrike" noProof="0" dirty="0">
                        <a:solidFill>
                          <a:srgbClr val="FFFFFF"/>
                        </a:solidFill>
                        <a:latin typeface="Times New Roman" panose="02020603050405020304" pitchFamily="18" charset="0"/>
                        <a:ea typeface="Calibri"/>
                        <a:cs typeface="Times New Roman" panose="02020603050405020304" pitchFamily="18" charset="0"/>
                      </a:endParaRPr>
                    </a:p>
                    <a:p>
                      <a:pPr lvl="0" defTabSz="914400">
                        <a:buNone/>
                        <a:tabLst/>
                        <a:defRPr/>
                      </a:pPr>
                      <a:r>
                        <a:rPr lang="en-US" sz="1800" b="0" i="0" u="none" strike="noStrike" noProof="0" dirty="0">
                          <a:solidFill>
                            <a:srgbClr val="FFFFFF"/>
                          </a:solidFill>
                          <a:latin typeface="Times New Roman" panose="02020603050405020304" pitchFamily="18" charset="0"/>
                          <a:ea typeface="Calibri"/>
                          <a:cs typeface="Times New Roman" panose="02020603050405020304" pitchFamily="18" charset="0"/>
                        </a:rPr>
                        <a:t>details)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Identification of Gaps /Limitations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52049101"/>
                  </a:ext>
                </a:extLst>
              </a:tr>
              <a:tr h="370840">
                <a:tc>
                  <a:txBody>
                    <a:bodyPr/>
                    <a:lstStyle/>
                    <a:p>
                      <a:pPr algn="l"/>
                      <a:r>
                        <a:rPr lang="en-US">
                          <a:latin typeface="Times New Roman" panose="02020603050405020304" pitchFamily="18" charset="0"/>
                          <a:cs typeface="Times New Roman" panose="02020603050405020304" pitchFamily="18" charset="0"/>
                        </a:rPr>
                        <a:t>1</a:t>
                      </a:r>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a:lnSpc>
                          <a:spcPct val="100000"/>
                        </a:lnSpc>
                        <a:spcBef>
                          <a:spcPts val="0"/>
                        </a:spcBef>
                        <a:spcAft>
                          <a:spcPts val="0"/>
                        </a:spcAft>
                        <a:buNone/>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Perez, E., Ribeiro, I., 2022. </a:t>
                      </a:r>
                      <a:r>
                        <a:rPr lang="en-US" sz="1800" b="0" i="1" kern="1200" dirty="0">
                          <a:solidFill>
                            <a:schemeClr val="dk1"/>
                          </a:solidFill>
                          <a:effectLst/>
                          <a:latin typeface="Times New Roman" panose="02020603050405020304" pitchFamily="18" charset="0"/>
                          <a:ea typeface="+mn-ea"/>
                          <a:cs typeface="Times New Roman" panose="02020603050405020304" pitchFamily="18" charset="0"/>
                        </a:rPr>
                        <a:t>Prompt Injection Attacks Against Large Language Models.</a:t>
                      </a:r>
                      <a:endParaRPr lang="en-I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algn="l"/>
                      <a:endParaRPr lang="en-IN" dirty="0"/>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Demonstrated direct prompt injection techniques</a:t>
                      </a:r>
                      <a:br>
                        <a:rPr lang="en-US" dirty="0"/>
                      </a:br>
                      <a:r>
                        <a:rPr lang="en-US" sz="1800" b="0" i="0" kern="1200" dirty="0">
                          <a:solidFill>
                            <a:schemeClr val="dk1"/>
                          </a:solidFill>
                          <a:effectLst/>
                          <a:latin typeface="+mn-lt"/>
                          <a:ea typeface="+mn-ea"/>
                          <a:cs typeface="+mn-cs"/>
                        </a:rPr>
                        <a:t>• Evaluated LLM responses to adversarial instructions</a:t>
                      </a:r>
                      <a:br>
                        <a:rPr lang="en-US" dirty="0"/>
                      </a:br>
                      <a:r>
                        <a:rPr lang="en-US" sz="1800" b="0" i="0" kern="1200" dirty="0">
                          <a:solidFill>
                            <a:schemeClr val="dk1"/>
                          </a:solidFill>
                          <a:effectLst/>
                          <a:latin typeface="+mn-lt"/>
                          <a:ea typeface="+mn-ea"/>
                          <a:cs typeface="+mn-cs"/>
                        </a:rPr>
                        <a:t>• Tested instruction override scenarios</a:t>
                      </a:r>
                      <a:endParaRPr lang="en-IN" dirty="0"/>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Focuses only on attack demonstration</a:t>
                      </a:r>
                      <a:br>
                        <a:rPr lang="en-US" dirty="0"/>
                      </a:br>
                      <a:r>
                        <a:rPr lang="en-US" sz="1800" b="0" i="0" kern="1200" dirty="0">
                          <a:solidFill>
                            <a:schemeClr val="dk1"/>
                          </a:solidFill>
                          <a:effectLst/>
                          <a:latin typeface="+mn-lt"/>
                          <a:ea typeface="+mn-ea"/>
                          <a:cs typeface="+mn-cs"/>
                        </a:rPr>
                        <a:t>• No real‑time detection mechanism</a:t>
                      </a:r>
                      <a:br>
                        <a:rPr lang="en-US" dirty="0"/>
                      </a:br>
                      <a:r>
                        <a:rPr lang="en-US" sz="1800" b="0" i="0" kern="1200" dirty="0">
                          <a:solidFill>
                            <a:schemeClr val="dk1"/>
                          </a:solidFill>
                          <a:effectLst/>
                          <a:latin typeface="+mn-lt"/>
                          <a:ea typeface="+mn-ea"/>
                          <a:cs typeface="+mn-cs"/>
                        </a:rPr>
                        <a:t>• Lacks mitigation framework</a:t>
                      </a:r>
                      <a:endParaRPr lang="en-IN" sz="1800" b="0" i="0" u="none" strike="noStrike" noProof="0" dirty="0">
                        <a:latin typeface="Times New Roman" panose="02020603050405020304" pitchFamily="18" charset="0"/>
                        <a:ea typeface="Calibri"/>
                        <a:cs typeface="Times New Roman" panose="02020603050405020304" pitchFamily="18" charset="0"/>
                      </a:endParaRPr>
                    </a:p>
                  </a:txBody>
                  <a:tcPr/>
                </a:tc>
                <a:extLst>
                  <a:ext uri="{0D108BD9-81ED-4DB2-BD59-A6C34878D82A}">
                    <a16:rowId xmlns:a16="http://schemas.microsoft.com/office/drawing/2014/main" val="2555361007"/>
                  </a:ext>
                </a:extLst>
              </a:tr>
            </a:tbl>
          </a:graphicData>
        </a:graphic>
      </p:graphicFrame>
      <p:pic>
        <p:nvPicPr>
          <p:cNvPr id="5" name="image1.png">
            <a:extLst>
              <a:ext uri="{FF2B5EF4-FFF2-40B4-BE49-F238E27FC236}">
                <a16:creationId xmlns:a16="http://schemas.microsoft.com/office/drawing/2014/main" id="{378F5BD9-4549-949F-1E34-4F084FACC24D}"/>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1654106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24F8B-9EDB-6464-7303-6EDE7437646A}"/>
              </a:ext>
            </a:extLst>
          </p:cNvPr>
          <p:cNvSpPr>
            <a:spLocks noGrp="1"/>
          </p:cNvSpPr>
          <p:nvPr>
            <p:ph type="title"/>
          </p:nvPr>
        </p:nvSpPr>
        <p:spPr/>
        <p:txBody>
          <a:bodyPr/>
          <a:lstStyle/>
          <a:p>
            <a:endParaRPr lang="en-US" dirty="0"/>
          </a:p>
        </p:txBody>
      </p:sp>
      <p:graphicFrame>
        <p:nvGraphicFramePr>
          <p:cNvPr id="4" name="Content Placeholder 3">
            <a:extLst>
              <a:ext uri="{FF2B5EF4-FFF2-40B4-BE49-F238E27FC236}">
                <a16:creationId xmlns:a16="http://schemas.microsoft.com/office/drawing/2014/main" id="{B2DDA80F-9731-49CD-1D3B-4290A04B8BDB}"/>
              </a:ext>
            </a:extLst>
          </p:cNvPr>
          <p:cNvGraphicFramePr>
            <a:graphicFrameLocks noGrp="1"/>
          </p:cNvGraphicFramePr>
          <p:nvPr>
            <p:ph idx="1"/>
            <p:extLst>
              <p:ext uri="{D42A27DB-BD31-4B8C-83A1-F6EECF244321}">
                <p14:modId xmlns:p14="http://schemas.microsoft.com/office/powerpoint/2010/main" val="1317551476"/>
              </p:ext>
            </p:extLst>
          </p:nvPr>
        </p:nvGraphicFramePr>
        <p:xfrm>
          <a:off x="904301" y="1969265"/>
          <a:ext cx="10368634" cy="3474720"/>
        </p:xfrm>
        <a:graphic>
          <a:graphicData uri="http://schemas.openxmlformats.org/drawingml/2006/table">
            <a:tbl>
              <a:tblPr firstRow="1" bandRow="1">
                <a:tableStyleId>{5C22544A-7EE6-4342-B048-85BDC9FD1C3A}</a:tableStyleId>
              </a:tblPr>
              <a:tblGrid>
                <a:gridCol w="2195763">
                  <a:extLst>
                    <a:ext uri="{9D8B030D-6E8A-4147-A177-3AD203B41FA5}">
                      <a16:colId xmlns:a16="http://schemas.microsoft.com/office/drawing/2014/main" val="1865083176"/>
                    </a:ext>
                  </a:extLst>
                </a:gridCol>
                <a:gridCol w="2636921">
                  <a:extLst>
                    <a:ext uri="{9D8B030D-6E8A-4147-A177-3AD203B41FA5}">
                      <a16:colId xmlns:a16="http://schemas.microsoft.com/office/drawing/2014/main" val="1633999035"/>
                    </a:ext>
                  </a:extLst>
                </a:gridCol>
                <a:gridCol w="2987835">
                  <a:extLst>
                    <a:ext uri="{9D8B030D-6E8A-4147-A177-3AD203B41FA5}">
                      <a16:colId xmlns:a16="http://schemas.microsoft.com/office/drawing/2014/main" val="3912613066"/>
                    </a:ext>
                  </a:extLst>
                </a:gridCol>
                <a:gridCol w="2548115">
                  <a:extLst>
                    <a:ext uri="{9D8B030D-6E8A-4147-A177-3AD203B41FA5}">
                      <a16:colId xmlns:a16="http://schemas.microsoft.com/office/drawing/2014/main" val="3244622774"/>
                    </a:ext>
                  </a:extLst>
                </a:gridCol>
              </a:tblGrid>
              <a:tr h="370840">
                <a:tc>
                  <a:txBody>
                    <a:bodyPr/>
                    <a:lstStyle/>
                    <a:p>
                      <a:pPr lvl="0">
                        <a:buNone/>
                      </a:pPr>
                      <a:r>
                        <a:rPr lang="en-IN" sz="1800" b="1" i="0" u="none" strike="noStrike" noProof="0" err="1">
                          <a:solidFill>
                            <a:srgbClr val="FFFFFF"/>
                          </a:solidFill>
                          <a:latin typeface="Calibri"/>
                          <a:ea typeface="Calibri"/>
                          <a:cs typeface="Calibri"/>
                        </a:rPr>
                        <a:t>S.No</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FFFFFF"/>
                          </a:solidFill>
                          <a:latin typeface="Calibri"/>
                          <a:ea typeface="Calibri"/>
                          <a:cs typeface="Calibri"/>
                        </a:rPr>
                        <a:t>Title (Name of the journal, author, and publication</a:t>
                      </a:r>
                      <a:endParaRPr lang="en-US" sz="1800" b="1" i="0" u="none" strike="noStrike" noProof="0">
                        <a:solidFill>
                          <a:srgbClr val="FFFFFF"/>
                        </a:solidFill>
                        <a:latin typeface="Calibri"/>
                        <a:ea typeface="Calibri"/>
                        <a:cs typeface="Calibri"/>
                      </a:endParaRPr>
                    </a:p>
                    <a:p>
                      <a:pPr lvl="0">
                        <a:buNone/>
                      </a:pPr>
                      <a:r>
                        <a:rPr lang="en-US" sz="1800" b="0" i="0" u="none" strike="noStrike" noProof="0">
                          <a:solidFill>
                            <a:srgbClr val="FFFFFF"/>
                          </a:solidFill>
                          <a:latin typeface="Calibri"/>
                          <a:ea typeface="Calibri"/>
                          <a:cs typeface="Calibri"/>
                        </a:rPr>
                        <a:t>details)</a:t>
                      </a:r>
                      <a:endParaRPr lang="en-IN"/>
                    </a:p>
                  </a:txBody>
                  <a:tcPr/>
                </a:tc>
                <a:tc>
                  <a:txBody>
                    <a:bodyPr/>
                    <a:lstStyle/>
                    <a:p>
                      <a:pPr lvl="0">
                        <a:buNone/>
                      </a:pPr>
                      <a:r>
                        <a:rPr lang="en-US" sz="1800" b="1" i="0" u="none" strike="noStrike" noProof="0">
                          <a:solidFill>
                            <a:srgbClr val="FFFFFF"/>
                          </a:solidFill>
                          <a:latin typeface="Calibri"/>
                          <a:ea typeface="Calibri"/>
                          <a:cs typeface="Calibri"/>
                        </a:rPr>
                        <a:t>Methodology</a:t>
                      </a:r>
                      <a:endParaRPr lang="en-US"/>
                    </a:p>
                  </a:txBody>
                  <a:tcPr/>
                </a:tc>
                <a:tc>
                  <a:txBody>
                    <a:bodyPr/>
                    <a:lstStyle/>
                    <a:p>
                      <a:pPr lvl="0" algn="l">
                        <a:lnSpc>
                          <a:spcPct val="100000"/>
                        </a:lnSpc>
                        <a:spcBef>
                          <a:spcPts val="0"/>
                        </a:spcBef>
                        <a:spcAft>
                          <a:spcPts val="0"/>
                        </a:spcAft>
                        <a:buNone/>
                      </a:pPr>
                      <a:r>
                        <a:rPr lang="en-US" sz="1800" b="1" i="0" u="none" strike="noStrike" noProof="0">
                          <a:solidFill>
                            <a:srgbClr val="FFFFFF"/>
                          </a:solidFill>
                          <a:latin typeface="Calibri"/>
                          <a:ea typeface="Calibri"/>
                          <a:cs typeface="Calibri"/>
                        </a:rPr>
                        <a:t>Identification of Gaps /Limitations</a:t>
                      </a:r>
                      <a:endParaRPr lang="en-IN" sz="1800" b="1" i="0" u="none" strike="noStrike" noProof="0">
                        <a:solidFill>
                          <a:srgbClr val="FFFFFF"/>
                        </a:solidFill>
                        <a:latin typeface="Calibri"/>
                        <a:ea typeface="Calibri"/>
                        <a:cs typeface="Calibri"/>
                      </a:endParaRPr>
                    </a:p>
                    <a:p>
                      <a:pPr lvl="0">
                        <a:buNone/>
                      </a:pPr>
                      <a:endParaRPr lang="en-IN"/>
                    </a:p>
                  </a:txBody>
                  <a:tcPr/>
                </a:tc>
                <a:extLst>
                  <a:ext uri="{0D108BD9-81ED-4DB2-BD59-A6C34878D82A}">
                    <a16:rowId xmlns:a16="http://schemas.microsoft.com/office/drawing/2014/main" val="327873168"/>
                  </a:ext>
                </a:extLst>
              </a:tr>
              <a:tr h="370840">
                <a:tc>
                  <a:txBody>
                    <a:bodyPr/>
                    <a:lstStyle/>
                    <a:p>
                      <a:r>
                        <a:rPr lang="en-IN"/>
                        <a:t>2</a:t>
                      </a:r>
                    </a:p>
                  </a:txBody>
                  <a:tcPr/>
                </a:tc>
                <a:tc>
                  <a:txBody>
                    <a:bodyPr/>
                    <a:lstStyle/>
                    <a:p>
                      <a:pPr lvl="0">
                        <a:buNone/>
                      </a:pPr>
                      <a:r>
                        <a:rPr lang="en-IN" sz="1800" b="0" i="0" u="none" strike="noStrike" noProof="0">
                          <a:latin typeface="Calibri"/>
                          <a:ea typeface="Calibri"/>
                          <a:cs typeface="Calibri"/>
                        </a:rPr>
                        <a:t>Kumar, A., Singh, R., 2024. </a:t>
                      </a:r>
                      <a:r>
                        <a:rPr lang="en-IN" sz="1800" b="0" i="1" u="none" strike="noStrike" noProof="0">
                          <a:latin typeface="Calibri"/>
                          <a:ea typeface="Calibri"/>
                          <a:cs typeface="Calibri"/>
                        </a:rPr>
                        <a:t>Decentralized Whistleblowing: A Hyperledger Fabric Approach</a:t>
                      </a:r>
                      <a:r>
                        <a:rPr lang="en-IN" sz="1800" b="0" i="0" u="none" strike="noStrike" noProof="0">
                          <a:latin typeface="Calibri"/>
                          <a:ea typeface="Calibri"/>
                          <a:cs typeface="Calibri"/>
                        </a:rPr>
                        <a:t>. Cluster Computing (Springer), 27(3), 2211–2225.</a:t>
                      </a:r>
                      <a:endParaRPr lang="en-US"/>
                    </a:p>
                    <a:p>
                      <a:pPr lvl="0">
                        <a:buNone/>
                      </a:pPr>
                      <a:endParaRPr lang="en-IN" sz="1800" b="1" i="0" u="none" strike="noStrike" noProof="0">
                        <a:latin typeface="Calibri"/>
                        <a:ea typeface="Calibri"/>
                        <a:cs typeface="Calibri"/>
                      </a:endParaRPr>
                    </a:p>
                  </a:txBody>
                  <a:tcPr/>
                </a:tc>
                <a:tc>
                  <a:txBody>
                    <a:bodyPr/>
                    <a:lstStyle/>
                    <a:p>
                      <a:pPr lvl="0" algn="l">
                        <a:lnSpc>
                          <a:spcPct val="100000"/>
                        </a:lnSpc>
                        <a:spcBef>
                          <a:spcPts val="0"/>
                        </a:spcBef>
                        <a:spcAft>
                          <a:spcPts val="0"/>
                        </a:spcAft>
                        <a:buNone/>
                      </a:pPr>
                      <a:r>
                        <a:rPr lang="en-IN" sz="1800" b="0" i="0" u="none" strike="noStrike" noProof="0"/>
                        <a:t>• Permissioned blockchain using Hyperledger Fabric </a:t>
                      </a:r>
                      <a:endParaRPr lang="en-US"/>
                    </a:p>
                    <a:p>
                      <a:pPr lvl="0" algn="l">
                        <a:lnSpc>
                          <a:spcPct val="100000"/>
                        </a:lnSpc>
                        <a:spcBef>
                          <a:spcPts val="0"/>
                        </a:spcBef>
                        <a:spcAft>
                          <a:spcPts val="0"/>
                        </a:spcAft>
                        <a:buNone/>
                      </a:pPr>
                      <a:r>
                        <a:rPr lang="en-IN" sz="1800" b="0" i="0" u="none" strike="noStrike" noProof="0"/>
                        <a:t>• Role-based access control </a:t>
                      </a:r>
                      <a:endParaRPr lang="en-IN"/>
                    </a:p>
                    <a:p>
                      <a:pPr lvl="0">
                        <a:buNone/>
                      </a:pPr>
                      <a:r>
                        <a:rPr lang="en-IN" sz="1800" b="0" i="0" u="none" strike="noStrike" noProof="0"/>
                        <a:t>• Performance benchmarking</a:t>
                      </a:r>
                      <a:endParaRPr lang="en-US"/>
                    </a:p>
                  </a:txBody>
                  <a:tcPr/>
                </a:tc>
                <a:tc>
                  <a:txBody>
                    <a:bodyPr/>
                    <a:lstStyle/>
                    <a:p>
                      <a:pPr lvl="0">
                        <a:buNone/>
                      </a:pPr>
                      <a:r>
                        <a:rPr lang="en-IN" sz="1800" b="0" i="0" u="none" strike="noStrike" noProof="0">
                          <a:latin typeface="Calibri"/>
                          <a:ea typeface="Calibri"/>
                          <a:cs typeface="Calibri"/>
                        </a:rPr>
                        <a:t>Reduced decentralization due to consortium-based governance; potential vulnerability to internal authority control.</a:t>
                      </a:r>
                      <a:endParaRPr lang="en-US"/>
                    </a:p>
                  </a:txBody>
                  <a:tcPr/>
                </a:tc>
                <a:extLst>
                  <a:ext uri="{0D108BD9-81ED-4DB2-BD59-A6C34878D82A}">
                    <a16:rowId xmlns:a16="http://schemas.microsoft.com/office/drawing/2014/main" val="1071362601"/>
                  </a:ext>
                </a:extLst>
              </a:tr>
            </a:tbl>
          </a:graphicData>
        </a:graphic>
      </p:graphicFrame>
      <p:graphicFrame>
        <p:nvGraphicFramePr>
          <p:cNvPr id="5" name="Content Placeholder 3">
            <a:extLst>
              <a:ext uri="{FF2B5EF4-FFF2-40B4-BE49-F238E27FC236}">
                <a16:creationId xmlns:a16="http://schemas.microsoft.com/office/drawing/2014/main" id="{F3619FEE-B863-1FD8-7FD9-32054F43A087}"/>
              </a:ext>
            </a:extLst>
          </p:cNvPr>
          <p:cNvGraphicFramePr>
            <a:graphicFrameLocks/>
          </p:cNvGraphicFramePr>
          <p:nvPr>
            <p:extLst>
              <p:ext uri="{D42A27DB-BD31-4B8C-83A1-F6EECF244321}">
                <p14:modId xmlns:p14="http://schemas.microsoft.com/office/powerpoint/2010/main" val="3428370234"/>
              </p:ext>
            </p:extLst>
          </p:nvPr>
        </p:nvGraphicFramePr>
        <p:xfrm>
          <a:off x="838200" y="1825625"/>
          <a:ext cx="10515600" cy="40233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811622105"/>
                    </a:ext>
                  </a:extLst>
                </a:gridCol>
                <a:gridCol w="2628900">
                  <a:extLst>
                    <a:ext uri="{9D8B030D-6E8A-4147-A177-3AD203B41FA5}">
                      <a16:colId xmlns:a16="http://schemas.microsoft.com/office/drawing/2014/main" val="3309788006"/>
                    </a:ext>
                  </a:extLst>
                </a:gridCol>
                <a:gridCol w="2628900">
                  <a:extLst>
                    <a:ext uri="{9D8B030D-6E8A-4147-A177-3AD203B41FA5}">
                      <a16:colId xmlns:a16="http://schemas.microsoft.com/office/drawing/2014/main" val="1549203288"/>
                    </a:ext>
                  </a:extLst>
                </a:gridCol>
                <a:gridCol w="2628900">
                  <a:extLst>
                    <a:ext uri="{9D8B030D-6E8A-4147-A177-3AD203B41FA5}">
                      <a16:colId xmlns:a16="http://schemas.microsoft.com/office/drawing/2014/main" val="1852230661"/>
                    </a:ext>
                  </a:extLst>
                </a:gridCol>
              </a:tblGrid>
              <a:tr h="1106053">
                <a:tc>
                  <a:txBody>
                    <a:bodyPr/>
                    <a:lstStyle/>
                    <a:p>
                      <a:pPr>
                        <a:buNone/>
                      </a:pPr>
                      <a:r>
                        <a:rPr lang="en-IN" err="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pPr lvl="0" algn="l">
                        <a:lnSpc>
                          <a:spcPct val="100000"/>
                        </a:lnSpc>
                        <a:spcBef>
                          <a:spcPts val="0"/>
                        </a:spcBef>
                        <a:spcAft>
                          <a:spcPts val="0"/>
                        </a:spcAft>
                        <a:buNone/>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Title (Name of the journal, author, and publication</a:t>
                      </a:r>
                      <a:endParaRPr lang="en-US" sz="1800" b="1" i="0" u="none" strike="noStrike" noProof="0">
                        <a:solidFill>
                          <a:srgbClr val="FFFFFF"/>
                        </a:solidFill>
                        <a:latin typeface="Times New Roman" panose="02020603050405020304" pitchFamily="18" charset="0"/>
                        <a:ea typeface="Calibri"/>
                        <a:cs typeface="Times New Roman" panose="02020603050405020304" pitchFamily="18" charset="0"/>
                      </a:endParaRPr>
                    </a:p>
                    <a:p>
                      <a:pPr lvl="0" defTabSz="914400">
                        <a:buNone/>
                        <a:tabLst/>
                        <a:defRPr/>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details)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Identification of Gaps /Limitations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52049101"/>
                  </a:ext>
                </a:extLst>
              </a:tr>
              <a:tr h="2142984">
                <a:tc>
                  <a:txBody>
                    <a:bodyPr/>
                    <a:lstStyle/>
                    <a:p>
                      <a:pPr algn="l"/>
                      <a:r>
                        <a:rPr lang="en-US">
                          <a:latin typeface="Times New Roman" panose="02020603050405020304" pitchFamily="18" charset="0"/>
                          <a:cs typeface="Times New Roman" panose="02020603050405020304" pitchFamily="18" charset="0"/>
                        </a:rPr>
                        <a:t>2</a:t>
                      </a:r>
                    </a:p>
                  </a:txBody>
                  <a:tcPr/>
                </a:tc>
                <a:tc>
                  <a:txBody>
                    <a:bodyPr/>
                    <a:lstStyle/>
                    <a:p>
                      <a:r>
                        <a:rPr lang="en-US" sz="1800" b="0" i="0" kern="1200" dirty="0" err="1">
                          <a:solidFill>
                            <a:schemeClr val="dk1"/>
                          </a:solidFill>
                          <a:effectLst/>
                          <a:latin typeface="+mn-lt"/>
                          <a:ea typeface="+mn-ea"/>
                          <a:cs typeface="+mn-cs"/>
                        </a:rPr>
                        <a:t>Greshake</a:t>
                      </a:r>
                      <a:r>
                        <a:rPr lang="en-US" sz="1800" b="0" i="0" kern="1200" dirty="0">
                          <a:solidFill>
                            <a:schemeClr val="dk1"/>
                          </a:solidFill>
                          <a:effectLst/>
                          <a:latin typeface="+mn-lt"/>
                          <a:ea typeface="+mn-ea"/>
                          <a:cs typeface="+mn-cs"/>
                        </a:rPr>
                        <a:t>, K., et al., 2023. </a:t>
                      </a:r>
                      <a:r>
                        <a:rPr lang="en-US" sz="1800" b="0" i="1" kern="1200" dirty="0">
                          <a:solidFill>
                            <a:schemeClr val="dk1"/>
                          </a:solidFill>
                          <a:effectLst/>
                          <a:latin typeface="+mn-lt"/>
                          <a:ea typeface="+mn-ea"/>
                          <a:cs typeface="+mn-cs"/>
                        </a:rPr>
                        <a:t>Not What You’ve Signed Up For: Compromising Real‑World LLM Systems.</a:t>
                      </a:r>
                      <a:endParaRPr lang="en-US" sz="1800" b="0" i="0" kern="1200" dirty="0">
                        <a:solidFill>
                          <a:schemeClr val="dk1"/>
                        </a:solidFill>
                        <a:effectLst/>
                        <a:latin typeface="+mn-lt"/>
                        <a:ea typeface="+mn-ea"/>
                        <a:cs typeface="+mn-cs"/>
                      </a:endParaRPr>
                    </a:p>
                    <a:p>
                      <a:br>
                        <a:rPr lang="en-US" dirty="0"/>
                      </a:br>
                      <a:endParaRPr lang="en-I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IN" sz="1800" b="0" i="0" kern="1200" dirty="0">
                          <a:solidFill>
                            <a:schemeClr val="dk1"/>
                          </a:solidFill>
                          <a:effectLst/>
                          <a:latin typeface="+mn-lt"/>
                          <a:ea typeface="+mn-ea"/>
                          <a:cs typeface="+mn-cs"/>
                        </a:rPr>
                        <a:t>• Investigated indirect prompt injection via external content</a:t>
                      </a:r>
                      <a:br>
                        <a:rPr lang="en-IN" dirty="0"/>
                      </a:br>
                      <a:r>
                        <a:rPr lang="en-IN" sz="1800" b="0" i="0" kern="1200" dirty="0">
                          <a:solidFill>
                            <a:schemeClr val="dk1"/>
                          </a:solidFill>
                          <a:effectLst/>
                          <a:latin typeface="+mn-lt"/>
                          <a:ea typeface="+mn-ea"/>
                          <a:cs typeface="+mn-cs"/>
                        </a:rPr>
                        <a:t>• </a:t>
                      </a:r>
                      <a:r>
                        <a:rPr lang="en-IN" sz="1800" b="0" i="0" kern="1200" dirty="0" err="1">
                          <a:solidFill>
                            <a:schemeClr val="dk1"/>
                          </a:solidFill>
                          <a:effectLst/>
                          <a:latin typeface="+mn-lt"/>
                          <a:ea typeface="+mn-ea"/>
                          <a:cs typeface="+mn-cs"/>
                        </a:rPr>
                        <a:t>Analyzed</a:t>
                      </a:r>
                      <a:r>
                        <a:rPr lang="en-IN" sz="1800" b="0" i="0" kern="1200" dirty="0">
                          <a:solidFill>
                            <a:schemeClr val="dk1"/>
                          </a:solidFill>
                          <a:effectLst/>
                          <a:latin typeface="+mn-lt"/>
                          <a:ea typeface="+mn-ea"/>
                          <a:cs typeface="+mn-cs"/>
                        </a:rPr>
                        <a:t> vulnerabilities in retrieval‑augmented systems</a:t>
                      </a:r>
                      <a:br>
                        <a:rPr lang="en-IN" dirty="0"/>
                      </a:br>
                      <a:r>
                        <a:rPr lang="en-IN" sz="1800" b="0" i="0" kern="1200" dirty="0">
                          <a:solidFill>
                            <a:schemeClr val="dk1"/>
                          </a:solidFill>
                          <a:effectLst/>
                          <a:latin typeface="+mn-lt"/>
                          <a:ea typeface="+mn-ea"/>
                          <a:cs typeface="+mn-cs"/>
                        </a:rPr>
                        <a:t>• Demonstrated data poisoning through web inputs</a:t>
                      </a:r>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No automated defense system</a:t>
                      </a:r>
                      <a:br>
                        <a:rPr lang="en-US" dirty="0"/>
                      </a:br>
                      <a:r>
                        <a:rPr lang="en-US" sz="1800" b="0" i="0" kern="1200" dirty="0">
                          <a:solidFill>
                            <a:schemeClr val="dk1"/>
                          </a:solidFill>
                          <a:effectLst/>
                          <a:latin typeface="+mn-lt"/>
                          <a:ea typeface="+mn-ea"/>
                          <a:cs typeface="+mn-cs"/>
                        </a:rPr>
                        <a:t>• Limited evaluation of real‑time scenarios</a:t>
                      </a:r>
                      <a:br>
                        <a:rPr lang="en-US" dirty="0"/>
                      </a:br>
                      <a:r>
                        <a:rPr lang="en-US" sz="1800" b="0" i="0" kern="1200" dirty="0">
                          <a:solidFill>
                            <a:schemeClr val="dk1"/>
                          </a:solidFill>
                          <a:effectLst/>
                          <a:latin typeface="+mn-lt"/>
                          <a:ea typeface="+mn-ea"/>
                          <a:cs typeface="+mn-cs"/>
                        </a:rPr>
                        <a:t>• Does not address intent detection</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5361007"/>
                  </a:ext>
                </a:extLst>
              </a:tr>
            </a:tbl>
          </a:graphicData>
        </a:graphic>
      </p:graphicFrame>
      <p:pic>
        <p:nvPicPr>
          <p:cNvPr id="3" name="image1.png">
            <a:extLst>
              <a:ext uri="{FF2B5EF4-FFF2-40B4-BE49-F238E27FC236}">
                <a16:creationId xmlns:a16="http://schemas.microsoft.com/office/drawing/2014/main" id="{866555D2-EA06-BE15-A069-920B85D61927}"/>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3112928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32481-39DF-D87D-F05A-E04DB0151847}"/>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2399B6C6-3A08-7399-C148-E981AB01131D}"/>
              </a:ext>
            </a:extLst>
          </p:cNvPr>
          <p:cNvGraphicFramePr>
            <a:graphicFrameLocks/>
          </p:cNvGraphicFramePr>
          <p:nvPr>
            <p:extLst>
              <p:ext uri="{D42A27DB-BD31-4B8C-83A1-F6EECF244321}">
                <p14:modId xmlns:p14="http://schemas.microsoft.com/office/powerpoint/2010/main" val="1205466281"/>
              </p:ext>
            </p:extLst>
          </p:nvPr>
        </p:nvGraphicFramePr>
        <p:xfrm>
          <a:off x="840036" y="1836144"/>
          <a:ext cx="10515592" cy="4200895"/>
        </p:xfrm>
        <a:graphic>
          <a:graphicData uri="http://schemas.openxmlformats.org/drawingml/2006/table">
            <a:tbl>
              <a:tblPr firstRow="1" bandRow="1">
                <a:tableStyleId>{5C22544A-7EE6-4342-B048-85BDC9FD1C3A}</a:tableStyleId>
              </a:tblPr>
              <a:tblGrid>
                <a:gridCol w="2628898">
                  <a:extLst>
                    <a:ext uri="{9D8B030D-6E8A-4147-A177-3AD203B41FA5}">
                      <a16:colId xmlns:a16="http://schemas.microsoft.com/office/drawing/2014/main" val="811622105"/>
                    </a:ext>
                  </a:extLst>
                </a:gridCol>
                <a:gridCol w="2628898">
                  <a:extLst>
                    <a:ext uri="{9D8B030D-6E8A-4147-A177-3AD203B41FA5}">
                      <a16:colId xmlns:a16="http://schemas.microsoft.com/office/drawing/2014/main" val="3309788006"/>
                    </a:ext>
                  </a:extLst>
                </a:gridCol>
                <a:gridCol w="2628898">
                  <a:extLst>
                    <a:ext uri="{9D8B030D-6E8A-4147-A177-3AD203B41FA5}">
                      <a16:colId xmlns:a16="http://schemas.microsoft.com/office/drawing/2014/main" val="1549203288"/>
                    </a:ext>
                  </a:extLst>
                </a:gridCol>
                <a:gridCol w="2628898">
                  <a:extLst>
                    <a:ext uri="{9D8B030D-6E8A-4147-A177-3AD203B41FA5}">
                      <a16:colId xmlns:a16="http://schemas.microsoft.com/office/drawing/2014/main" val="1852230661"/>
                    </a:ext>
                  </a:extLst>
                </a:gridCol>
              </a:tblGrid>
              <a:tr h="1527599">
                <a:tc>
                  <a:txBody>
                    <a:bodyPr/>
                    <a:lstStyle/>
                    <a:p>
                      <a:pPr>
                        <a:buNone/>
                      </a:pPr>
                      <a:r>
                        <a:rPr lang="en-IN" err="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pPr lvl="0" algn="l">
                        <a:lnSpc>
                          <a:spcPct val="100000"/>
                        </a:lnSpc>
                        <a:spcBef>
                          <a:spcPts val="0"/>
                        </a:spcBef>
                        <a:spcAft>
                          <a:spcPts val="0"/>
                        </a:spcAft>
                        <a:buNone/>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Title (Name of the journal, author, and publication</a:t>
                      </a:r>
                      <a:endParaRPr lang="en-US" sz="1800" b="1" i="0" u="none" strike="noStrike" noProof="0">
                        <a:solidFill>
                          <a:srgbClr val="FFFFFF"/>
                        </a:solidFill>
                        <a:latin typeface="Times New Roman" panose="02020603050405020304" pitchFamily="18" charset="0"/>
                        <a:ea typeface="Calibri"/>
                        <a:cs typeface="Times New Roman" panose="02020603050405020304" pitchFamily="18" charset="0"/>
                      </a:endParaRPr>
                    </a:p>
                    <a:p>
                      <a:pPr lvl="0" defTabSz="914400">
                        <a:buNone/>
                        <a:tabLst/>
                        <a:defRPr/>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details)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Identification of Gaps /Limitations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52049101"/>
                  </a:ext>
                </a:extLst>
              </a:tr>
              <a:tr h="2673296">
                <a:tc>
                  <a:txBody>
                    <a:bodyPr/>
                    <a:lstStyle/>
                    <a:p>
                      <a:pPr algn="l"/>
                      <a:r>
                        <a:rPr lang="en-US">
                          <a:latin typeface="Times New Roman" panose="02020603050405020304" pitchFamily="18" charset="0"/>
                          <a:cs typeface="Times New Roman" panose="02020603050405020304" pitchFamily="18" charset="0"/>
                        </a:rPr>
                        <a:t>3</a:t>
                      </a:r>
                    </a:p>
                  </a:txBody>
                  <a:tcPr/>
                </a:tc>
                <a:tc>
                  <a:txBody>
                    <a:bodyPr/>
                    <a:lstStyle/>
                    <a:p>
                      <a:pPr marL="0" marR="0" lvl="0" indent="0" algn="l">
                        <a:lnSpc>
                          <a:spcPct val="100000"/>
                        </a:lnSpc>
                        <a:spcBef>
                          <a:spcPts val="0"/>
                        </a:spcBef>
                        <a:spcAft>
                          <a:spcPts val="0"/>
                        </a:spcAft>
                        <a:buNone/>
                      </a:pPr>
                      <a:r>
                        <a:rPr lang="en-US" sz="1800" b="0" i="0" kern="1200" dirty="0">
                          <a:solidFill>
                            <a:schemeClr val="dk1"/>
                          </a:solidFill>
                          <a:effectLst/>
                          <a:latin typeface="+mn-lt"/>
                          <a:ea typeface="+mn-ea"/>
                          <a:cs typeface="+mn-cs"/>
                        </a:rPr>
                        <a:t>Zou, A., et al., 2023. </a:t>
                      </a:r>
                      <a:r>
                        <a:rPr lang="en-US" sz="1800" b="0" i="1" kern="1200" dirty="0">
                          <a:solidFill>
                            <a:schemeClr val="dk1"/>
                          </a:solidFill>
                          <a:effectLst/>
                          <a:latin typeface="+mn-lt"/>
                          <a:ea typeface="+mn-ea"/>
                          <a:cs typeface="+mn-cs"/>
                        </a:rPr>
                        <a:t>Universal and Transferable Adversarial Attacks on Aligned Language Models.</a:t>
                      </a:r>
                      <a:endParaRPr lang="en-I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Developed transferable jailbreak prompts</a:t>
                      </a:r>
                      <a:br>
                        <a:rPr lang="en-US" dirty="0"/>
                      </a:br>
                      <a:r>
                        <a:rPr lang="en-US" sz="1800" b="0" i="0" kern="1200" dirty="0">
                          <a:solidFill>
                            <a:schemeClr val="dk1"/>
                          </a:solidFill>
                          <a:effectLst/>
                          <a:latin typeface="+mn-lt"/>
                          <a:ea typeface="+mn-ea"/>
                          <a:cs typeface="+mn-cs"/>
                        </a:rPr>
                        <a:t>• Tested across multiple LLM platforms</a:t>
                      </a:r>
                      <a:br>
                        <a:rPr lang="en-US" dirty="0"/>
                      </a:br>
                      <a:r>
                        <a:rPr lang="en-US" sz="1800" b="0" i="0" kern="1200" dirty="0">
                          <a:solidFill>
                            <a:schemeClr val="dk1"/>
                          </a:solidFill>
                          <a:effectLst/>
                          <a:latin typeface="+mn-lt"/>
                          <a:ea typeface="+mn-ea"/>
                          <a:cs typeface="+mn-cs"/>
                        </a:rPr>
                        <a:t>• Evaluated attack success rate</a:t>
                      </a:r>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No detection or prevention mechanism</a:t>
                      </a:r>
                      <a:br>
                        <a:rPr lang="en-US" dirty="0"/>
                      </a:br>
                      <a:r>
                        <a:rPr lang="en-US" sz="1800" b="0" i="0" kern="1200" dirty="0">
                          <a:solidFill>
                            <a:schemeClr val="dk1"/>
                          </a:solidFill>
                          <a:effectLst/>
                          <a:latin typeface="+mn-lt"/>
                          <a:ea typeface="+mn-ea"/>
                          <a:cs typeface="+mn-cs"/>
                        </a:rPr>
                        <a:t>• Focus limited to attack effectiveness</a:t>
                      </a:r>
                      <a:br>
                        <a:rPr lang="en-US" dirty="0"/>
                      </a:br>
                      <a:r>
                        <a:rPr lang="en-US" sz="1800" b="0" i="0" kern="1200" dirty="0">
                          <a:solidFill>
                            <a:schemeClr val="dk1"/>
                          </a:solidFill>
                          <a:effectLst/>
                          <a:latin typeface="+mn-lt"/>
                          <a:ea typeface="+mn-ea"/>
                          <a:cs typeface="+mn-cs"/>
                        </a:rPr>
                        <a:t>• Does not analyze behavioral patterns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5361007"/>
                  </a:ext>
                </a:extLst>
              </a:tr>
            </a:tbl>
          </a:graphicData>
        </a:graphic>
      </p:graphicFrame>
      <p:pic>
        <p:nvPicPr>
          <p:cNvPr id="3" name="image1.png">
            <a:extLst>
              <a:ext uri="{FF2B5EF4-FFF2-40B4-BE49-F238E27FC236}">
                <a16:creationId xmlns:a16="http://schemas.microsoft.com/office/drawing/2014/main" id="{88EEB88F-16F9-DB54-EFB5-D91D38A89178}"/>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593712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3C1B6-C4D1-A452-B089-40023D63B427}"/>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69E93D26-7BCB-C323-1030-AF53E021EB08}"/>
              </a:ext>
            </a:extLst>
          </p:cNvPr>
          <p:cNvSpPr>
            <a:spLocks noGrp="1"/>
          </p:cNvSpPr>
          <p:nvPr>
            <p:ph idx="1"/>
          </p:nvPr>
        </p:nvSpPr>
        <p:spPr/>
        <p:txBody>
          <a:bodyPr/>
          <a:lstStyle/>
          <a:p>
            <a:endParaRPr lang="en-US"/>
          </a:p>
        </p:txBody>
      </p:sp>
      <p:graphicFrame>
        <p:nvGraphicFramePr>
          <p:cNvPr id="9" name="Content Placeholder 3">
            <a:extLst>
              <a:ext uri="{FF2B5EF4-FFF2-40B4-BE49-F238E27FC236}">
                <a16:creationId xmlns:a16="http://schemas.microsoft.com/office/drawing/2014/main" id="{325AE061-7F69-1165-4984-DD2C50B11207}"/>
              </a:ext>
            </a:extLst>
          </p:cNvPr>
          <p:cNvGraphicFramePr>
            <a:graphicFrameLocks/>
          </p:cNvGraphicFramePr>
          <p:nvPr>
            <p:extLst>
              <p:ext uri="{D42A27DB-BD31-4B8C-83A1-F6EECF244321}">
                <p14:modId xmlns:p14="http://schemas.microsoft.com/office/powerpoint/2010/main" val="3255898712"/>
              </p:ext>
            </p:extLst>
          </p:nvPr>
        </p:nvGraphicFramePr>
        <p:xfrm>
          <a:off x="840036" y="1836144"/>
          <a:ext cx="10515592" cy="4200895"/>
        </p:xfrm>
        <a:graphic>
          <a:graphicData uri="http://schemas.openxmlformats.org/drawingml/2006/table">
            <a:tbl>
              <a:tblPr firstRow="1" bandRow="1">
                <a:tableStyleId>{5C22544A-7EE6-4342-B048-85BDC9FD1C3A}</a:tableStyleId>
              </a:tblPr>
              <a:tblGrid>
                <a:gridCol w="2628898">
                  <a:extLst>
                    <a:ext uri="{9D8B030D-6E8A-4147-A177-3AD203B41FA5}">
                      <a16:colId xmlns:a16="http://schemas.microsoft.com/office/drawing/2014/main" val="811622105"/>
                    </a:ext>
                  </a:extLst>
                </a:gridCol>
                <a:gridCol w="2628898">
                  <a:extLst>
                    <a:ext uri="{9D8B030D-6E8A-4147-A177-3AD203B41FA5}">
                      <a16:colId xmlns:a16="http://schemas.microsoft.com/office/drawing/2014/main" val="3309788006"/>
                    </a:ext>
                  </a:extLst>
                </a:gridCol>
                <a:gridCol w="2628898">
                  <a:extLst>
                    <a:ext uri="{9D8B030D-6E8A-4147-A177-3AD203B41FA5}">
                      <a16:colId xmlns:a16="http://schemas.microsoft.com/office/drawing/2014/main" val="1549203288"/>
                    </a:ext>
                  </a:extLst>
                </a:gridCol>
                <a:gridCol w="2628898">
                  <a:extLst>
                    <a:ext uri="{9D8B030D-6E8A-4147-A177-3AD203B41FA5}">
                      <a16:colId xmlns:a16="http://schemas.microsoft.com/office/drawing/2014/main" val="1852230661"/>
                    </a:ext>
                  </a:extLst>
                </a:gridCol>
              </a:tblGrid>
              <a:tr h="1527599">
                <a:tc>
                  <a:txBody>
                    <a:bodyPr/>
                    <a:lstStyle/>
                    <a:p>
                      <a:pPr>
                        <a:buNone/>
                      </a:pPr>
                      <a:r>
                        <a:rPr lang="en-IN" err="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pPr lvl="0" algn="l">
                        <a:lnSpc>
                          <a:spcPct val="100000"/>
                        </a:lnSpc>
                        <a:spcBef>
                          <a:spcPts val="0"/>
                        </a:spcBef>
                        <a:spcAft>
                          <a:spcPts val="0"/>
                        </a:spcAft>
                        <a:buNone/>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Title (Name of the journal, author, and publication</a:t>
                      </a:r>
                      <a:endParaRPr lang="en-US" sz="1800" b="1" i="0" u="none" strike="noStrike" noProof="0">
                        <a:solidFill>
                          <a:srgbClr val="FFFFFF"/>
                        </a:solidFill>
                        <a:latin typeface="Times New Roman" panose="02020603050405020304" pitchFamily="18" charset="0"/>
                        <a:ea typeface="Calibri"/>
                        <a:cs typeface="Times New Roman" panose="02020603050405020304" pitchFamily="18" charset="0"/>
                      </a:endParaRPr>
                    </a:p>
                    <a:p>
                      <a:pPr lvl="0" defTabSz="914400">
                        <a:buNone/>
                        <a:tabLst/>
                        <a:defRPr/>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details)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Identification of Gaps /Limitations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52049101"/>
                  </a:ext>
                </a:extLst>
              </a:tr>
              <a:tr h="2673296">
                <a:tc>
                  <a:txBody>
                    <a:bodyPr/>
                    <a:lstStyle/>
                    <a:p>
                      <a:pPr algn="l"/>
                      <a:r>
                        <a:rPr lang="en-US">
                          <a:latin typeface="Times New Roman" panose="02020603050405020304" pitchFamily="18" charset="0"/>
                          <a:cs typeface="Times New Roman" panose="02020603050405020304" pitchFamily="18" charset="0"/>
                        </a:rPr>
                        <a:t>4</a:t>
                      </a:r>
                    </a:p>
                  </a:txBody>
                  <a:tcPr/>
                </a:tc>
                <a:tc>
                  <a:txBody>
                    <a:bodyPr/>
                    <a:lstStyle/>
                    <a:p>
                      <a:pPr marL="0" marR="0" lvl="0" indent="0" algn="l">
                        <a:lnSpc>
                          <a:spcPct val="100000"/>
                        </a:lnSpc>
                        <a:spcBef>
                          <a:spcPts val="0"/>
                        </a:spcBef>
                        <a:spcAft>
                          <a:spcPts val="0"/>
                        </a:spcAft>
                        <a:buNone/>
                      </a:pPr>
                      <a:r>
                        <a:rPr lang="en-US" sz="1800" b="0" i="0" kern="1200" dirty="0">
                          <a:solidFill>
                            <a:schemeClr val="dk1"/>
                          </a:solidFill>
                          <a:effectLst/>
                          <a:latin typeface="+mn-lt"/>
                          <a:ea typeface="+mn-ea"/>
                          <a:cs typeface="+mn-cs"/>
                        </a:rPr>
                        <a:t>Wei, J., et al., 2023. </a:t>
                      </a:r>
                      <a:r>
                        <a:rPr lang="en-US" sz="1800" b="0" i="1" kern="1200" dirty="0">
                          <a:solidFill>
                            <a:schemeClr val="dk1"/>
                          </a:solidFill>
                          <a:effectLst/>
                          <a:latin typeface="+mn-lt"/>
                          <a:ea typeface="+mn-ea"/>
                          <a:cs typeface="+mn-cs"/>
                        </a:rPr>
                        <a:t>Jailbroken: How Does LLM Safety Training Fail?</a:t>
                      </a:r>
                      <a:endParaRPr lang="en-I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Studied bypass techniques for safety alignment</a:t>
                      </a:r>
                      <a:br>
                        <a:rPr lang="en-US" dirty="0"/>
                      </a:br>
                      <a:r>
                        <a:rPr lang="en-US" sz="1800" b="0" i="0" kern="1200" dirty="0">
                          <a:solidFill>
                            <a:schemeClr val="dk1"/>
                          </a:solidFill>
                          <a:effectLst/>
                          <a:latin typeface="+mn-lt"/>
                          <a:ea typeface="+mn-ea"/>
                          <a:cs typeface="+mn-cs"/>
                        </a:rPr>
                        <a:t>• Analyzed harmful content generation scenarios</a:t>
                      </a:r>
                      <a:br>
                        <a:rPr lang="en-US" dirty="0"/>
                      </a:br>
                      <a:r>
                        <a:rPr lang="en-US" sz="1800" b="0" i="0" kern="1200" dirty="0">
                          <a:solidFill>
                            <a:schemeClr val="dk1"/>
                          </a:solidFill>
                          <a:effectLst/>
                          <a:latin typeface="+mn-lt"/>
                          <a:ea typeface="+mn-ea"/>
                          <a:cs typeface="+mn-cs"/>
                        </a:rPr>
                        <a:t>• Evaluated failure cases of safety filters</a:t>
                      </a:r>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No proactive defense framework</a:t>
                      </a:r>
                      <a:br>
                        <a:rPr lang="en-US" dirty="0"/>
                      </a:br>
                      <a:r>
                        <a:rPr lang="en-US" sz="1800" b="0" i="0" kern="1200" dirty="0">
                          <a:solidFill>
                            <a:schemeClr val="dk1"/>
                          </a:solidFill>
                          <a:effectLst/>
                          <a:latin typeface="+mn-lt"/>
                          <a:ea typeface="+mn-ea"/>
                          <a:cs typeface="+mn-cs"/>
                        </a:rPr>
                        <a:t>• Reactive mitigation only</a:t>
                      </a:r>
                      <a:br>
                        <a:rPr lang="en-US" dirty="0"/>
                      </a:br>
                      <a:r>
                        <a:rPr lang="en-US" sz="1800" b="0" i="0" kern="1200" dirty="0">
                          <a:solidFill>
                            <a:schemeClr val="dk1"/>
                          </a:solidFill>
                          <a:effectLst/>
                          <a:latin typeface="+mn-lt"/>
                          <a:ea typeface="+mn-ea"/>
                          <a:cs typeface="+mn-cs"/>
                        </a:rPr>
                        <a:t>• Limited applicability to real‑world systems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5361007"/>
                  </a:ext>
                </a:extLst>
              </a:tr>
            </a:tbl>
          </a:graphicData>
        </a:graphic>
      </p:graphicFrame>
      <p:pic>
        <p:nvPicPr>
          <p:cNvPr id="3" name="image1.png">
            <a:extLst>
              <a:ext uri="{FF2B5EF4-FFF2-40B4-BE49-F238E27FC236}">
                <a16:creationId xmlns:a16="http://schemas.microsoft.com/office/drawing/2014/main" id="{1184CEA6-1152-1A95-99E2-312539E6086A}"/>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2239462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21094-C7E4-F674-C2CB-5A360530A80B}"/>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E2B8B4A6-8F51-B80E-0D55-FAF1C5452CFE}"/>
              </a:ext>
            </a:extLst>
          </p:cNvPr>
          <p:cNvSpPr>
            <a:spLocks noGrp="1"/>
          </p:cNvSpPr>
          <p:nvPr>
            <p:ph idx="1"/>
          </p:nvPr>
        </p:nvSpPr>
        <p:spPr/>
        <p:txBody>
          <a:bodyPr/>
          <a:lstStyle/>
          <a:p>
            <a:endParaRPr lang="en-US"/>
          </a:p>
        </p:txBody>
      </p:sp>
      <p:graphicFrame>
        <p:nvGraphicFramePr>
          <p:cNvPr id="9" name="Content Placeholder 3">
            <a:extLst>
              <a:ext uri="{FF2B5EF4-FFF2-40B4-BE49-F238E27FC236}">
                <a16:creationId xmlns:a16="http://schemas.microsoft.com/office/drawing/2014/main" id="{E62CA2D1-35C6-C0C8-CBB6-B8A1073291BB}"/>
              </a:ext>
            </a:extLst>
          </p:cNvPr>
          <p:cNvGraphicFramePr>
            <a:graphicFrameLocks/>
          </p:cNvGraphicFramePr>
          <p:nvPr>
            <p:extLst>
              <p:ext uri="{D42A27DB-BD31-4B8C-83A1-F6EECF244321}">
                <p14:modId xmlns:p14="http://schemas.microsoft.com/office/powerpoint/2010/main" val="4077314081"/>
              </p:ext>
            </p:extLst>
          </p:nvPr>
        </p:nvGraphicFramePr>
        <p:xfrm>
          <a:off x="840036" y="1836144"/>
          <a:ext cx="10515592" cy="4200895"/>
        </p:xfrm>
        <a:graphic>
          <a:graphicData uri="http://schemas.openxmlformats.org/drawingml/2006/table">
            <a:tbl>
              <a:tblPr firstRow="1" bandRow="1">
                <a:tableStyleId>{5C22544A-7EE6-4342-B048-85BDC9FD1C3A}</a:tableStyleId>
              </a:tblPr>
              <a:tblGrid>
                <a:gridCol w="2628898">
                  <a:extLst>
                    <a:ext uri="{9D8B030D-6E8A-4147-A177-3AD203B41FA5}">
                      <a16:colId xmlns:a16="http://schemas.microsoft.com/office/drawing/2014/main" val="811622105"/>
                    </a:ext>
                  </a:extLst>
                </a:gridCol>
                <a:gridCol w="2628898">
                  <a:extLst>
                    <a:ext uri="{9D8B030D-6E8A-4147-A177-3AD203B41FA5}">
                      <a16:colId xmlns:a16="http://schemas.microsoft.com/office/drawing/2014/main" val="3309788006"/>
                    </a:ext>
                  </a:extLst>
                </a:gridCol>
                <a:gridCol w="2628898">
                  <a:extLst>
                    <a:ext uri="{9D8B030D-6E8A-4147-A177-3AD203B41FA5}">
                      <a16:colId xmlns:a16="http://schemas.microsoft.com/office/drawing/2014/main" val="1549203288"/>
                    </a:ext>
                  </a:extLst>
                </a:gridCol>
                <a:gridCol w="2628898">
                  <a:extLst>
                    <a:ext uri="{9D8B030D-6E8A-4147-A177-3AD203B41FA5}">
                      <a16:colId xmlns:a16="http://schemas.microsoft.com/office/drawing/2014/main" val="1852230661"/>
                    </a:ext>
                  </a:extLst>
                </a:gridCol>
              </a:tblGrid>
              <a:tr h="1527599">
                <a:tc>
                  <a:txBody>
                    <a:bodyPr/>
                    <a:lstStyle/>
                    <a:p>
                      <a:pPr>
                        <a:buNone/>
                      </a:pPr>
                      <a:r>
                        <a:rPr lang="en-IN" err="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pPr lvl="0" algn="l">
                        <a:lnSpc>
                          <a:spcPct val="100000"/>
                        </a:lnSpc>
                        <a:spcBef>
                          <a:spcPts val="0"/>
                        </a:spcBef>
                        <a:spcAft>
                          <a:spcPts val="0"/>
                        </a:spcAft>
                        <a:buNone/>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Title (Name of the journal, author, and publication</a:t>
                      </a:r>
                      <a:endParaRPr lang="en-US" sz="1800" b="1" i="0" u="none" strike="noStrike" noProof="0">
                        <a:solidFill>
                          <a:srgbClr val="FFFFFF"/>
                        </a:solidFill>
                        <a:latin typeface="Times New Roman" panose="02020603050405020304" pitchFamily="18" charset="0"/>
                        <a:ea typeface="Calibri"/>
                        <a:cs typeface="Times New Roman" panose="02020603050405020304" pitchFamily="18" charset="0"/>
                      </a:endParaRPr>
                    </a:p>
                    <a:p>
                      <a:pPr lvl="0" defTabSz="914400">
                        <a:buNone/>
                        <a:tabLst/>
                        <a:defRPr/>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details)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Identification of Gaps /Limitations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52049101"/>
                  </a:ext>
                </a:extLst>
              </a:tr>
              <a:tr h="2673296">
                <a:tc>
                  <a:txBody>
                    <a:bodyPr/>
                    <a:lstStyle/>
                    <a:p>
                      <a:pPr algn="l"/>
                      <a:r>
                        <a:rPr lang="en-US">
                          <a:latin typeface="Times New Roman" panose="02020603050405020304" pitchFamily="18" charset="0"/>
                          <a:cs typeface="Times New Roman" panose="02020603050405020304" pitchFamily="18" charset="0"/>
                        </a:rPr>
                        <a:t>5</a:t>
                      </a:r>
                    </a:p>
                  </a:txBody>
                  <a:tcPr/>
                </a:tc>
                <a:tc>
                  <a:txBody>
                    <a:bodyPr/>
                    <a:lstStyle/>
                    <a:p>
                      <a:pPr marL="0" marR="0" lvl="0" indent="0" algn="l">
                        <a:lnSpc>
                          <a:spcPct val="100000"/>
                        </a:lnSpc>
                        <a:spcBef>
                          <a:spcPts val="0"/>
                        </a:spcBef>
                        <a:spcAft>
                          <a:spcPts val="0"/>
                        </a:spcAft>
                        <a:buNone/>
                      </a:pPr>
                      <a:r>
                        <a:rPr lang="en-US" sz="1800" b="0" i="0" kern="1200" dirty="0">
                          <a:solidFill>
                            <a:schemeClr val="dk1"/>
                          </a:solidFill>
                          <a:effectLst/>
                          <a:latin typeface="+mn-lt"/>
                          <a:ea typeface="+mn-ea"/>
                          <a:cs typeface="+mn-cs"/>
                        </a:rPr>
                        <a:t>Liu, Y., et al., 2024. </a:t>
                      </a:r>
                      <a:r>
                        <a:rPr lang="en-US" sz="1800" b="0" i="1" kern="1200" dirty="0">
                          <a:solidFill>
                            <a:schemeClr val="dk1"/>
                          </a:solidFill>
                          <a:effectLst/>
                          <a:latin typeface="+mn-lt"/>
                          <a:ea typeface="+mn-ea"/>
                          <a:cs typeface="+mn-cs"/>
                        </a:rPr>
                        <a:t>Prompt Injection Attacks and Defenses in LLM‑Integrated Applications.</a:t>
                      </a:r>
                      <a:endParaRPr lang="en-I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Surveyed existing attack methods and defenses</a:t>
                      </a:r>
                      <a:br>
                        <a:rPr lang="en-US" dirty="0"/>
                      </a:br>
                      <a:r>
                        <a:rPr lang="en-US" sz="1800" b="0" i="0" kern="1200" dirty="0">
                          <a:solidFill>
                            <a:schemeClr val="dk1"/>
                          </a:solidFill>
                          <a:effectLst/>
                          <a:latin typeface="+mn-lt"/>
                          <a:ea typeface="+mn-ea"/>
                          <a:cs typeface="+mn-cs"/>
                        </a:rPr>
                        <a:t>• Categorized vulnerabilities in LLM systems</a:t>
                      </a:r>
                      <a:br>
                        <a:rPr lang="en-US" dirty="0"/>
                      </a:br>
                      <a:r>
                        <a:rPr lang="en-US" sz="1800" b="0" i="0" kern="1200" dirty="0">
                          <a:solidFill>
                            <a:schemeClr val="dk1"/>
                          </a:solidFill>
                          <a:effectLst/>
                          <a:latin typeface="+mn-lt"/>
                          <a:ea typeface="+mn-ea"/>
                          <a:cs typeface="+mn-cs"/>
                        </a:rPr>
                        <a:t>• Reviewed mitigation strategies</a:t>
                      </a:r>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Mainly theoretical analysis</a:t>
                      </a:r>
                      <a:br>
                        <a:rPr lang="en-US" dirty="0"/>
                      </a:br>
                      <a:r>
                        <a:rPr lang="en-US" sz="1800" b="0" i="0" kern="1200" dirty="0">
                          <a:solidFill>
                            <a:schemeClr val="dk1"/>
                          </a:solidFill>
                          <a:effectLst/>
                          <a:latin typeface="+mn-lt"/>
                          <a:ea typeface="+mn-ea"/>
                          <a:cs typeface="+mn-cs"/>
                        </a:rPr>
                        <a:t>• No implementation of detection system</a:t>
                      </a:r>
                      <a:br>
                        <a:rPr lang="en-US" dirty="0"/>
                      </a:br>
                      <a:r>
                        <a:rPr lang="en-US" sz="1800" b="0" i="0" kern="1200" dirty="0">
                          <a:solidFill>
                            <a:schemeClr val="dk1"/>
                          </a:solidFill>
                          <a:effectLst/>
                          <a:latin typeface="+mn-lt"/>
                          <a:ea typeface="+mn-ea"/>
                          <a:cs typeface="+mn-cs"/>
                        </a:rPr>
                        <a:t>• Lack of hybrid approach</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5361007"/>
                  </a:ext>
                </a:extLst>
              </a:tr>
            </a:tbl>
          </a:graphicData>
        </a:graphic>
      </p:graphicFrame>
      <p:pic>
        <p:nvPicPr>
          <p:cNvPr id="3" name="image1.png">
            <a:extLst>
              <a:ext uri="{FF2B5EF4-FFF2-40B4-BE49-F238E27FC236}">
                <a16:creationId xmlns:a16="http://schemas.microsoft.com/office/drawing/2014/main" id="{0BA88F58-E085-A5C3-66D7-3F3E57B285C1}"/>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4102697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60B35-C9ED-0175-44CF-887DE95528FA}"/>
              </a:ext>
            </a:extLst>
          </p:cNvPr>
          <p:cNvSpPr>
            <a:spLocks noGrp="1"/>
          </p:cNvSpPr>
          <p:nvPr>
            <p:ph type="title"/>
          </p:nvPr>
        </p:nvSpPr>
        <p:spPr/>
        <p:txBody>
          <a:bodyPr/>
          <a:lstStyle/>
          <a:p>
            <a:endParaRPr lang="en-US"/>
          </a:p>
        </p:txBody>
      </p:sp>
      <p:graphicFrame>
        <p:nvGraphicFramePr>
          <p:cNvPr id="9" name="Content Placeholder 3">
            <a:extLst>
              <a:ext uri="{FF2B5EF4-FFF2-40B4-BE49-F238E27FC236}">
                <a16:creationId xmlns:a16="http://schemas.microsoft.com/office/drawing/2014/main" id="{588990E1-7FDD-AC98-0AAC-AF0527F48D8E}"/>
              </a:ext>
            </a:extLst>
          </p:cNvPr>
          <p:cNvGraphicFramePr>
            <a:graphicFrameLocks/>
          </p:cNvGraphicFramePr>
          <p:nvPr>
            <p:extLst>
              <p:ext uri="{D42A27DB-BD31-4B8C-83A1-F6EECF244321}">
                <p14:modId xmlns:p14="http://schemas.microsoft.com/office/powerpoint/2010/main" val="1582330964"/>
              </p:ext>
            </p:extLst>
          </p:nvPr>
        </p:nvGraphicFramePr>
        <p:xfrm>
          <a:off x="840036" y="1836144"/>
          <a:ext cx="10515592" cy="4200895"/>
        </p:xfrm>
        <a:graphic>
          <a:graphicData uri="http://schemas.openxmlformats.org/drawingml/2006/table">
            <a:tbl>
              <a:tblPr firstRow="1" bandRow="1">
                <a:tableStyleId>{5C22544A-7EE6-4342-B048-85BDC9FD1C3A}</a:tableStyleId>
              </a:tblPr>
              <a:tblGrid>
                <a:gridCol w="2628898">
                  <a:extLst>
                    <a:ext uri="{9D8B030D-6E8A-4147-A177-3AD203B41FA5}">
                      <a16:colId xmlns:a16="http://schemas.microsoft.com/office/drawing/2014/main" val="811622105"/>
                    </a:ext>
                  </a:extLst>
                </a:gridCol>
                <a:gridCol w="2628898">
                  <a:extLst>
                    <a:ext uri="{9D8B030D-6E8A-4147-A177-3AD203B41FA5}">
                      <a16:colId xmlns:a16="http://schemas.microsoft.com/office/drawing/2014/main" val="3309788006"/>
                    </a:ext>
                  </a:extLst>
                </a:gridCol>
                <a:gridCol w="2628898">
                  <a:extLst>
                    <a:ext uri="{9D8B030D-6E8A-4147-A177-3AD203B41FA5}">
                      <a16:colId xmlns:a16="http://schemas.microsoft.com/office/drawing/2014/main" val="1549203288"/>
                    </a:ext>
                  </a:extLst>
                </a:gridCol>
                <a:gridCol w="2628898">
                  <a:extLst>
                    <a:ext uri="{9D8B030D-6E8A-4147-A177-3AD203B41FA5}">
                      <a16:colId xmlns:a16="http://schemas.microsoft.com/office/drawing/2014/main" val="1852230661"/>
                    </a:ext>
                  </a:extLst>
                </a:gridCol>
              </a:tblGrid>
              <a:tr h="1527599">
                <a:tc>
                  <a:txBody>
                    <a:bodyPr/>
                    <a:lstStyle/>
                    <a:p>
                      <a:pPr>
                        <a:buNone/>
                      </a:pPr>
                      <a:r>
                        <a:rPr lang="en-IN" err="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pPr lvl="0" algn="l">
                        <a:lnSpc>
                          <a:spcPct val="100000"/>
                        </a:lnSpc>
                        <a:spcBef>
                          <a:spcPts val="0"/>
                        </a:spcBef>
                        <a:spcAft>
                          <a:spcPts val="0"/>
                        </a:spcAft>
                        <a:buNone/>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Title (Name of the journal, author, and publication</a:t>
                      </a:r>
                      <a:endParaRPr lang="en-US" sz="1800" b="1" i="0" u="none" strike="noStrike" noProof="0">
                        <a:solidFill>
                          <a:srgbClr val="FFFFFF"/>
                        </a:solidFill>
                        <a:latin typeface="Times New Roman" panose="02020603050405020304" pitchFamily="18" charset="0"/>
                        <a:ea typeface="Calibri"/>
                        <a:cs typeface="Times New Roman" panose="02020603050405020304" pitchFamily="18" charset="0"/>
                      </a:endParaRPr>
                    </a:p>
                    <a:p>
                      <a:pPr lvl="0" defTabSz="914400">
                        <a:buNone/>
                        <a:tabLst/>
                        <a:defRPr/>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details)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Identification of Gaps /Limitations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52049101"/>
                  </a:ext>
                </a:extLst>
              </a:tr>
              <a:tr h="2673296">
                <a:tc>
                  <a:txBody>
                    <a:bodyPr/>
                    <a:lstStyle/>
                    <a:p>
                      <a:pPr algn="l"/>
                      <a:r>
                        <a:rPr lang="en-US">
                          <a:latin typeface="Times New Roman" panose="02020603050405020304" pitchFamily="18" charset="0"/>
                          <a:cs typeface="Times New Roman" panose="02020603050405020304" pitchFamily="18" charset="0"/>
                        </a:rPr>
                        <a:t>6</a:t>
                      </a:r>
                    </a:p>
                  </a:txBody>
                  <a:tcPr/>
                </a:tc>
                <a:tc>
                  <a:txBody>
                    <a:bodyPr/>
                    <a:lstStyle/>
                    <a:p>
                      <a:pPr marL="0" marR="0" lvl="0" indent="0" algn="l">
                        <a:lnSpc>
                          <a:spcPct val="100000"/>
                        </a:lnSpc>
                        <a:spcBef>
                          <a:spcPts val="0"/>
                        </a:spcBef>
                        <a:spcAft>
                          <a:spcPts val="0"/>
                        </a:spcAft>
                        <a:buNone/>
                      </a:pPr>
                      <a:r>
                        <a:rPr lang="en-US" sz="1800" b="0" i="0" kern="1200" dirty="0">
                          <a:solidFill>
                            <a:schemeClr val="dk1"/>
                          </a:solidFill>
                          <a:effectLst/>
                          <a:latin typeface="+mn-lt"/>
                          <a:ea typeface="+mn-ea"/>
                          <a:cs typeface="+mn-cs"/>
                        </a:rPr>
                        <a:t>Zhu, Y., et al., 2023. </a:t>
                      </a:r>
                      <a:r>
                        <a:rPr lang="en-US" sz="1800" b="0" i="1" kern="1200" dirty="0" err="1">
                          <a:solidFill>
                            <a:schemeClr val="dk1"/>
                          </a:solidFill>
                          <a:effectLst/>
                          <a:latin typeface="+mn-lt"/>
                          <a:ea typeface="+mn-ea"/>
                          <a:cs typeface="+mn-cs"/>
                        </a:rPr>
                        <a:t>PromptBench</a:t>
                      </a:r>
                      <a:r>
                        <a:rPr lang="en-US" sz="1800" b="0" i="1" kern="1200" dirty="0">
                          <a:solidFill>
                            <a:schemeClr val="dk1"/>
                          </a:solidFill>
                          <a:effectLst/>
                          <a:latin typeface="+mn-lt"/>
                          <a:ea typeface="+mn-ea"/>
                          <a:cs typeface="+mn-cs"/>
                        </a:rPr>
                        <a:t>: Benchmarking Prompt Injection Attacks.</a:t>
                      </a:r>
                      <a:endParaRPr lang="en-I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dk1"/>
                          </a:solidFill>
                          <a:effectLst/>
                          <a:latin typeface="+mn-lt"/>
                          <a:ea typeface="+mn-ea"/>
                          <a:cs typeface="+mn-cs"/>
                        </a:rPr>
                        <a:t>• Developed benchmark dataset for prompt attacks</a:t>
                      </a:r>
                      <a:br>
                        <a:rPr lang="en-US" sz="1800" b="0" i="0" kern="1200" dirty="0">
                          <a:solidFill>
                            <a:schemeClr val="dk1"/>
                          </a:solidFill>
                          <a:effectLst/>
                          <a:latin typeface="+mn-lt"/>
                          <a:ea typeface="+mn-ea"/>
                          <a:cs typeface="+mn-cs"/>
                        </a:rPr>
                      </a:br>
                      <a:r>
                        <a:rPr lang="en-US" sz="1800" b="0" i="0" kern="1200" dirty="0">
                          <a:solidFill>
                            <a:schemeClr val="dk1"/>
                          </a:solidFill>
                          <a:effectLst/>
                          <a:latin typeface="+mn-lt"/>
                          <a:ea typeface="+mn-ea"/>
                          <a:cs typeface="+mn-cs"/>
                        </a:rPr>
                        <a:t>• Evaluated model robustness</a:t>
                      </a:r>
                      <a:br>
                        <a:rPr lang="en-US" sz="1800" b="0" i="0" kern="1200" dirty="0">
                          <a:solidFill>
                            <a:schemeClr val="dk1"/>
                          </a:solidFill>
                          <a:effectLst/>
                          <a:latin typeface="+mn-lt"/>
                          <a:ea typeface="+mn-ea"/>
                          <a:cs typeface="+mn-cs"/>
                        </a:rPr>
                      </a:br>
                      <a:r>
                        <a:rPr lang="en-US" sz="1800" b="0" i="0" kern="1200" dirty="0">
                          <a:solidFill>
                            <a:schemeClr val="dk1"/>
                          </a:solidFill>
                          <a:effectLst/>
                          <a:latin typeface="+mn-lt"/>
                          <a:ea typeface="+mn-ea"/>
                          <a:cs typeface="+mn-cs"/>
                        </a:rPr>
                        <a:t>• Compared performance across models</a:t>
                      </a:r>
                    </a:p>
                    <a:p>
                      <a:br>
                        <a:rPr lang="en-US" dirty="0"/>
                      </a:br>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Does not propose mitigation techniques</a:t>
                      </a:r>
                      <a:br>
                        <a:rPr lang="en-US" dirty="0"/>
                      </a:br>
                      <a:r>
                        <a:rPr lang="en-US" sz="1800" b="0" i="0" kern="1200" dirty="0">
                          <a:solidFill>
                            <a:schemeClr val="dk1"/>
                          </a:solidFill>
                          <a:effectLst/>
                          <a:latin typeface="+mn-lt"/>
                          <a:ea typeface="+mn-ea"/>
                          <a:cs typeface="+mn-cs"/>
                        </a:rPr>
                        <a:t>• Limited real‑world applicability</a:t>
                      </a:r>
                      <a:br>
                        <a:rPr lang="en-US" dirty="0"/>
                      </a:br>
                      <a:r>
                        <a:rPr lang="en-US" sz="1800" b="0" i="0" kern="1200" dirty="0">
                          <a:solidFill>
                            <a:schemeClr val="dk1"/>
                          </a:solidFill>
                          <a:effectLst/>
                          <a:latin typeface="+mn-lt"/>
                          <a:ea typeface="+mn-ea"/>
                          <a:cs typeface="+mn-cs"/>
                        </a:rPr>
                        <a:t>• No real‑time detection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5361007"/>
                  </a:ext>
                </a:extLst>
              </a:tr>
            </a:tbl>
          </a:graphicData>
        </a:graphic>
      </p:graphicFrame>
      <p:pic>
        <p:nvPicPr>
          <p:cNvPr id="3" name="image1.png">
            <a:extLst>
              <a:ext uri="{FF2B5EF4-FFF2-40B4-BE49-F238E27FC236}">
                <a16:creationId xmlns:a16="http://schemas.microsoft.com/office/drawing/2014/main" id="{C56BAD6D-F8D1-8F3A-DBF0-0CBA4ACFB602}"/>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461930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2993F-B87B-A5D9-B6DC-56874DE78FA5}"/>
              </a:ext>
            </a:extLst>
          </p:cNvPr>
          <p:cNvSpPr>
            <a:spLocks noGrp="1"/>
          </p:cNvSpPr>
          <p:nvPr>
            <p:ph type="title"/>
          </p:nvPr>
        </p:nvSpPr>
        <p:spPr/>
        <p:txBody>
          <a:bodyPr/>
          <a:lstStyle/>
          <a:p>
            <a:endParaRPr lang="en-US"/>
          </a:p>
        </p:txBody>
      </p:sp>
      <p:sp>
        <p:nvSpPr>
          <p:cNvPr id="9" name="Content Placeholder 8">
            <a:extLst>
              <a:ext uri="{FF2B5EF4-FFF2-40B4-BE49-F238E27FC236}">
                <a16:creationId xmlns:a16="http://schemas.microsoft.com/office/drawing/2014/main" id="{1D4979A0-56F2-D90A-9AFD-2F25B58A25A5}"/>
              </a:ext>
            </a:extLst>
          </p:cNvPr>
          <p:cNvSpPr>
            <a:spLocks noGrp="1"/>
          </p:cNvSpPr>
          <p:nvPr>
            <p:ph idx="1"/>
          </p:nvPr>
        </p:nvSpPr>
        <p:spPr/>
        <p:txBody>
          <a:bodyPr/>
          <a:lstStyle/>
          <a:p>
            <a:endParaRPr lang="en-US"/>
          </a:p>
        </p:txBody>
      </p:sp>
      <p:graphicFrame>
        <p:nvGraphicFramePr>
          <p:cNvPr id="11" name="Content Placeholder 3">
            <a:extLst>
              <a:ext uri="{FF2B5EF4-FFF2-40B4-BE49-F238E27FC236}">
                <a16:creationId xmlns:a16="http://schemas.microsoft.com/office/drawing/2014/main" id="{623EFCD6-6034-6E6B-9DEE-580B10B42268}"/>
              </a:ext>
            </a:extLst>
          </p:cNvPr>
          <p:cNvGraphicFramePr>
            <a:graphicFrameLocks/>
          </p:cNvGraphicFramePr>
          <p:nvPr>
            <p:extLst>
              <p:ext uri="{D42A27DB-BD31-4B8C-83A1-F6EECF244321}">
                <p14:modId xmlns:p14="http://schemas.microsoft.com/office/powerpoint/2010/main" val="2205097454"/>
              </p:ext>
            </p:extLst>
          </p:nvPr>
        </p:nvGraphicFramePr>
        <p:xfrm>
          <a:off x="840036" y="1836144"/>
          <a:ext cx="10515592" cy="4200895"/>
        </p:xfrm>
        <a:graphic>
          <a:graphicData uri="http://schemas.openxmlformats.org/drawingml/2006/table">
            <a:tbl>
              <a:tblPr firstRow="1" bandRow="1">
                <a:tableStyleId>{5C22544A-7EE6-4342-B048-85BDC9FD1C3A}</a:tableStyleId>
              </a:tblPr>
              <a:tblGrid>
                <a:gridCol w="2628898">
                  <a:extLst>
                    <a:ext uri="{9D8B030D-6E8A-4147-A177-3AD203B41FA5}">
                      <a16:colId xmlns:a16="http://schemas.microsoft.com/office/drawing/2014/main" val="811622105"/>
                    </a:ext>
                  </a:extLst>
                </a:gridCol>
                <a:gridCol w="2628898">
                  <a:extLst>
                    <a:ext uri="{9D8B030D-6E8A-4147-A177-3AD203B41FA5}">
                      <a16:colId xmlns:a16="http://schemas.microsoft.com/office/drawing/2014/main" val="3309788006"/>
                    </a:ext>
                  </a:extLst>
                </a:gridCol>
                <a:gridCol w="2628898">
                  <a:extLst>
                    <a:ext uri="{9D8B030D-6E8A-4147-A177-3AD203B41FA5}">
                      <a16:colId xmlns:a16="http://schemas.microsoft.com/office/drawing/2014/main" val="1549203288"/>
                    </a:ext>
                  </a:extLst>
                </a:gridCol>
                <a:gridCol w="2628898">
                  <a:extLst>
                    <a:ext uri="{9D8B030D-6E8A-4147-A177-3AD203B41FA5}">
                      <a16:colId xmlns:a16="http://schemas.microsoft.com/office/drawing/2014/main" val="1852230661"/>
                    </a:ext>
                  </a:extLst>
                </a:gridCol>
              </a:tblGrid>
              <a:tr h="1527599">
                <a:tc>
                  <a:txBody>
                    <a:bodyPr/>
                    <a:lstStyle/>
                    <a:p>
                      <a:pPr>
                        <a:buNone/>
                      </a:pPr>
                      <a:r>
                        <a:rPr lang="en-IN" err="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pPr lvl="0" algn="l">
                        <a:lnSpc>
                          <a:spcPct val="100000"/>
                        </a:lnSpc>
                        <a:spcBef>
                          <a:spcPts val="0"/>
                        </a:spcBef>
                        <a:spcAft>
                          <a:spcPts val="0"/>
                        </a:spcAft>
                        <a:buNone/>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Title (Name of the journal, author, and publication</a:t>
                      </a:r>
                      <a:endParaRPr lang="en-US" sz="1800" b="1" i="0" u="none" strike="noStrike" noProof="0">
                        <a:solidFill>
                          <a:srgbClr val="FFFFFF"/>
                        </a:solidFill>
                        <a:latin typeface="Times New Roman" panose="02020603050405020304" pitchFamily="18" charset="0"/>
                        <a:ea typeface="Calibri"/>
                        <a:cs typeface="Times New Roman" panose="02020603050405020304" pitchFamily="18" charset="0"/>
                      </a:endParaRPr>
                    </a:p>
                    <a:p>
                      <a:pPr lvl="0" defTabSz="914400">
                        <a:buNone/>
                        <a:tabLst/>
                        <a:defRPr/>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details)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Identification of Gaps /Limitations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52049101"/>
                  </a:ext>
                </a:extLst>
              </a:tr>
              <a:tr h="2673296">
                <a:tc>
                  <a:txBody>
                    <a:bodyPr/>
                    <a:lstStyle/>
                    <a:p>
                      <a:pPr algn="l"/>
                      <a:r>
                        <a:rPr lang="en-US">
                          <a:latin typeface="Times New Roman" panose="02020603050405020304" pitchFamily="18" charset="0"/>
                          <a:cs typeface="Times New Roman" panose="02020603050405020304" pitchFamily="18" charset="0"/>
                        </a:rPr>
                        <a:t>7</a:t>
                      </a:r>
                    </a:p>
                  </a:txBody>
                  <a:tcPr/>
                </a:tc>
                <a:tc>
                  <a:txBody>
                    <a:bodyPr/>
                    <a:lstStyle/>
                    <a:p>
                      <a:pPr marL="0" marR="0" lvl="0" indent="0" algn="l">
                        <a:lnSpc>
                          <a:spcPct val="100000"/>
                        </a:lnSpc>
                        <a:spcBef>
                          <a:spcPts val="0"/>
                        </a:spcBef>
                        <a:spcAft>
                          <a:spcPts val="0"/>
                        </a:spcAft>
                        <a:buNone/>
                      </a:pPr>
                      <a:r>
                        <a:rPr lang="en-US" sz="1800" b="0" i="0" kern="1200" dirty="0">
                          <a:solidFill>
                            <a:schemeClr val="dk1"/>
                          </a:solidFill>
                          <a:effectLst/>
                          <a:latin typeface="+mn-lt"/>
                          <a:ea typeface="+mn-ea"/>
                          <a:cs typeface="+mn-cs"/>
                        </a:rPr>
                        <a:t>Stanford University, 2023. </a:t>
                      </a:r>
                      <a:r>
                        <a:rPr lang="en-US" sz="1800" b="0" i="1" kern="1200" dirty="0">
                          <a:solidFill>
                            <a:schemeClr val="dk1"/>
                          </a:solidFill>
                          <a:effectLst/>
                          <a:latin typeface="+mn-lt"/>
                          <a:ea typeface="+mn-ea"/>
                          <a:cs typeface="+mn-cs"/>
                        </a:rPr>
                        <a:t>Input Sanitization Approaches for LLM Security.</a:t>
                      </a:r>
                      <a:endParaRPr lang="en-I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Implemented rule‑based filtering</a:t>
                      </a:r>
                      <a:br>
                        <a:rPr lang="en-US" dirty="0"/>
                      </a:br>
                      <a:r>
                        <a:rPr lang="en-US" sz="1800" b="0" i="0" kern="1200" dirty="0">
                          <a:solidFill>
                            <a:schemeClr val="dk1"/>
                          </a:solidFill>
                          <a:effectLst/>
                          <a:latin typeface="+mn-lt"/>
                          <a:ea typeface="+mn-ea"/>
                          <a:cs typeface="+mn-cs"/>
                        </a:rPr>
                        <a:t>• Blocked known malicious patterns</a:t>
                      </a:r>
                      <a:br>
                        <a:rPr lang="en-US" dirty="0"/>
                      </a:br>
                      <a:r>
                        <a:rPr lang="en-US" sz="1800" b="0" i="0" kern="1200" dirty="0">
                          <a:solidFill>
                            <a:schemeClr val="dk1"/>
                          </a:solidFill>
                          <a:effectLst/>
                          <a:latin typeface="+mn-lt"/>
                          <a:ea typeface="+mn-ea"/>
                          <a:cs typeface="+mn-cs"/>
                        </a:rPr>
                        <a:t>• Evaluated effectiveness against simple attacks</a:t>
                      </a:r>
                      <a:endParaRPr lang="en-IN" dirty="0">
                        <a:latin typeface="Times New Roman" panose="02020603050405020304" pitchFamily="18" charset="0"/>
                        <a:ea typeface="Calibri"/>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Easily bypassed through paraphrasing</a:t>
                      </a:r>
                      <a:br>
                        <a:rPr lang="en-US" dirty="0"/>
                      </a:br>
                      <a:r>
                        <a:rPr lang="en-US" sz="1800" b="0" i="0" kern="1200" dirty="0">
                          <a:solidFill>
                            <a:schemeClr val="dk1"/>
                          </a:solidFill>
                          <a:effectLst/>
                          <a:latin typeface="+mn-lt"/>
                          <a:ea typeface="+mn-ea"/>
                          <a:cs typeface="+mn-cs"/>
                        </a:rPr>
                        <a:t>• Cannot detect semantic intent</a:t>
                      </a:r>
                      <a:br>
                        <a:rPr lang="en-US" dirty="0"/>
                      </a:br>
                      <a:r>
                        <a:rPr lang="en-US" sz="1800" b="0" i="0" kern="1200" dirty="0">
                          <a:solidFill>
                            <a:schemeClr val="dk1"/>
                          </a:solidFill>
                          <a:effectLst/>
                          <a:latin typeface="+mn-lt"/>
                          <a:ea typeface="+mn-ea"/>
                          <a:cs typeface="+mn-cs"/>
                        </a:rPr>
                        <a:t>• Ineffective against advanced attacks</a:t>
                      </a:r>
                      <a:endParaRPr lang="en-IN" dirty="0">
                        <a:latin typeface="Times New Roman" panose="02020603050405020304" pitchFamily="18" charset="0"/>
                        <a:ea typeface="Calibri"/>
                        <a:cs typeface="Times New Roman" panose="02020603050405020304" pitchFamily="18" charset="0"/>
                      </a:endParaRPr>
                    </a:p>
                  </a:txBody>
                  <a:tcPr/>
                </a:tc>
                <a:extLst>
                  <a:ext uri="{0D108BD9-81ED-4DB2-BD59-A6C34878D82A}">
                    <a16:rowId xmlns:a16="http://schemas.microsoft.com/office/drawing/2014/main" val="2555361007"/>
                  </a:ext>
                </a:extLst>
              </a:tr>
            </a:tbl>
          </a:graphicData>
        </a:graphic>
      </p:graphicFrame>
      <p:pic>
        <p:nvPicPr>
          <p:cNvPr id="3" name="image1.png">
            <a:extLst>
              <a:ext uri="{FF2B5EF4-FFF2-40B4-BE49-F238E27FC236}">
                <a16:creationId xmlns:a16="http://schemas.microsoft.com/office/drawing/2014/main" id="{2BD7139A-9622-7D2F-44D0-540EA09B77B5}"/>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1466793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50835-42D0-7DF0-61C1-46CD652A228E}"/>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AE12603F-4D50-058B-67F7-1239E3F1A026}"/>
              </a:ext>
            </a:extLst>
          </p:cNvPr>
          <p:cNvSpPr>
            <a:spLocks noGrp="1"/>
          </p:cNvSpPr>
          <p:nvPr>
            <p:ph idx="1"/>
          </p:nvPr>
        </p:nvSpPr>
        <p:spPr/>
        <p:txBody>
          <a:bodyPr/>
          <a:lstStyle/>
          <a:p>
            <a:endParaRPr lang="en-US"/>
          </a:p>
        </p:txBody>
      </p:sp>
      <p:graphicFrame>
        <p:nvGraphicFramePr>
          <p:cNvPr id="9" name="Content Placeholder 3">
            <a:extLst>
              <a:ext uri="{FF2B5EF4-FFF2-40B4-BE49-F238E27FC236}">
                <a16:creationId xmlns:a16="http://schemas.microsoft.com/office/drawing/2014/main" id="{150723E8-8A7D-6B7E-7E51-7117C7746F94}"/>
              </a:ext>
            </a:extLst>
          </p:cNvPr>
          <p:cNvGraphicFramePr>
            <a:graphicFrameLocks/>
          </p:cNvGraphicFramePr>
          <p:nvPr>
            <p:extLst>
              <p:ext uri="{D42A27DB-BD31-4B8C-83A1-F6EECF244321}">
                <p14:modId xmlns:p14="http://schemas.microsoft.com/office/powerpoint/2010/main" val="3993844353"/>
              </p:ext>
            </p:extLst>
          </p:nvPr>
        </p:nvGraphicFramePr>
        <p:xfrm>
          <a:off x="840036" y="1836144"/>
          <a:ext cx="10515592" cy="4200895"/>
        </p:xfrm>
        <a:graphic>
          <a:graphicData uri="http://schemas.openxmlformats.org/drawingml/2006/table">
            <a:tbl>
              <a:tblPr firstRow="1" bandRow="1">
                <a:tableStyleId>{5C22544A-7EE6-4342-B048-85BDC9FD1C3A}</a:tableStyleId>
              </a:tblPr>
              <a:tblGrid>
                <a:gridCol w="2628898">
                  <a:extLst>
                    <a:ext uri="{9D8B030D-6E8A-4147-A177-3AD203B41FA5}">
                      <a16:colId xmlns:a16="http://schemas.microsoft.com/office/drawing/2014/main" val="811622105"/>
                    </a:ext>
                  </a:extLst>
                </a:gridCol>
                <a:gridCol w="2628898">
                  <a:extLst>
                    <a:ext uri="{9D8B030D-6E8A-4147-A177-3AD203B41FA5}">
                      <a16:colId xmlns:a16="http://schemas.microsoft.com/office/drawing/2014/main" val="3309788006"/>
                    </a:ext>
                  </a:extLst>
                </a:gridCol>
                <a:gridCol w="2628898">
                  <a:extLst>
                    <a:ext uri="{9D8B030D-6E8A-4147-A177-3AD203B41FA5}">
                      <a16:colId xmlns:a16="http://schemas.microsoft.com/office/drawing/2014/main" val="1549203288"/>
                    </a:ext>
                  </a:extLst>
                </a:gridCol>
                <a:gridCol w="2628898">
                  <a:extLst>
                    <a:ext uri="{9D8B030D-6E8A-4147-A177-3AD203B41FA5}">
                      <a16:colId xmlns:a16="http://schemas.microsoft.com/office/drawing/2014/main" val="1852230661"/>
                    </a:ext>
                  </a:extLst>
                </a:gridCol>
              </a:tblGrid>
              <a:tr h="1527599">
                <a:tc>
                  <a:txBody>
                    <a:bodyPr/>
                    <a:lstStyle/>
                    <a:p>
                      <a:pPr>
                        <a:buNone/>
                      </a:pPr>
                      <a:r>
                        <a:rPr lang="en-IN" err="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pPr lvl="0" algn="l">
                        <a:lnSpc>
                          <a:spcPct val="100000"/>
                        </a:lnSpc>
                        <a:spcBef>
                          <a:spcPts val="0"/>
                        </a:spcBef>
                        <a:spcAft>
                          <a:spcPts val="0"/>
                        </a:spcAft>
                        <a:buNone/>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Title (Name of the journal, author, and publication</a:t>
                      </a:r>
                      <a:endParaRPr lang="en-US" sz="1800" b="1" i="0" u="none" strike="noStrike" noProof="0">
                        <a:solidFill>
                          <a:srgbClr val="FFFFFF"/>
                        </a:solidFill>
                        <a:latin typeface="Times New Roman" panose="02020603050405020304" pitchFamily="18" charset="0"/>
                        <a:ea typeface="Calibri"/>
                        <a:cs typeface="Times New Roman" panose="02020603050405020304" pitchFamily="18" charset="0"/>
                      </a:endParaRPr>
                    </a:p>
                    <a:p>
                      <a:pPr lvl="0" defTabSz="914400">
                        <a:buNone/>
                        <a:tabLst/>
                        <a:defRPr/>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details)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Identification of Gaps /Limitations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52049101"/>
                  </a:ext>
                </a:extLst>
              </a:tr>
              <a:tr h="2673296">
                <a:tc>
                  <a:txBody>
                    <a:bodyPr/>
                    <a:lstStyle/>
                    <a:p>
                      <a:pPr algn="l"/>
                      <a:r>
                        <a:rPr lang="en-US">
                          <a:latin typeface="Times New Roman" panose="02020603050405020304" pitchFamily="18" charset="0"/>
                          <a:cs typeface="Times New Roman" panose="02020603050405020304" pitchFamily="18" charset="0"/>
                        </a:rPr>
                        <a:t>8</a:t>
                      </a:r>
                    </a:p>
                  </a:txBody>
                  <a:tcPr/>
                </a:tc>
                <a:tc>
                  <a:txBody>
                    <a:bodyPr/>
                    <a:lstStyle/>
                    <a:p>
                      <a:pPr marL="0" marR="0" lvl="0" indent="0" algn="l">
                        <a:lnSpc>
                          <a:spcPct val="100000"/>
                        </a:lnSpc>
                        <a:spcBef>
                          <a:spcPts val="0"/>
                        </a:spcBef>
                        <a:spcAft>
                          <a:spcPts val="0"/>
                        </a:spcAft>
                        <a:buNone/>
                      </a:pPr>
                      <a:r>
                        <a:rPr lang="en-US" sz="1800" b="0" i="0" kern="1200" dirty="0">
                          <a:solidFill>
                            <a:schemeClr val="dk1"/>
                          </a:solidFill>
                          <a:effectLst/>
                          <a:latin typeface="+mn-lt"/>
                          <a:ea typeface="+mn-ea"/>
                          <a:cs typeface="+mn-cs"/>
                        </a:rPr>
                        <a:t>Anthropic, 2024. </a:t>
                      </a:r>
                      <a:r>
                        <a:rPr lang="en-US" sz="1800" b="0" i="1" kern="1200" dirty="0">
                          <a:solidFill>
                            <a:schemeClr val="dk1"/>
                          </a:solidFill>
                          <a:effectLst/>
                          <a:latin typeface="+mn-lt"/>
                          <a:ea typeface="+mn-ea"/>
                          <a:cs typeface="+mn-cs"/>
                        </a:rPr>
                        <a:t>LLM Self‑Defense: Detecting Malicious Prompts.</a:t>
                      </a:r>
                      <a:endParaRPr lang="en-I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Explored model‑based self‑monitoring</a:t>
                      </a:r>
                      <a:br>
                        <a:rPr lang="en-US" dirty="0"/>
                      </a:br>
                      <a:r>
                        <a:rPr lang="en-US" sz="1800" b="0" i="0" kern="1200" dirty="0">
                          <a:solidFill>
                            <a:schemeClr val="dk1"/>
                          </a:solidFill>
                          <a:effectLst/>
                          <a:latin typeface="+mn-lt"/>
                          <a:ea typeface="+mn-ea"/>
                          <a:cs typeface="+mn-cs"/>
                        </a:rPr>
                        <a:t>• Used internal safety signals</a:t>
                      </a:r>
                      <a:br>
                        <a:rPr lang="en-US" dirty="0"/>
                      </a:br>
                      <a:r>
                        <a:rPr lang="en-US" sz="1800" b="0" i="0" kern="1200" dirty="0">
                          <a:solidFill>
                            <a:schemeClr val="dk1"/>
                          </a:solidFill>
                          <a:effectLst/>
                          <a:latin typeface="+mn-lt"/>
                          <a:ea typeface="+mn-ea"/>
                          <a:cs typeface="+mn-cs"/>
                        </a:rPr>
                        <a:t>• Tested detection accuracy</a:t>
                      </a:r>
                      <a:endParaRPr lang="en-IN"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dk1"/>
                          </a:solidFill>
                          <a:effectLst/>
                          <a:latin typeface="+mn-lt"/>
                          <a:ea typeface="+mn-ea"/>
                          <a:cs typeface="+mn-cs"/>
                        </a:rPr>
                        <a:t>• Inconsistent performance</a:t>
                      </a:r>
                      <a:br>
                        <a:rPr lang="en-US" sz="1800" b="0" i="0" kern="1200" dirty="0">
                          <a:solidFill>
                            <a:schemeClr val="dk1"/>
                          </a:solidFill>
                          <a:effectLst/>
                          <a:latin typeface="+mn-lt"/>
                          <a:ea typeface="+mn-ea"/>
                          <a:cs typeface="+mn-cs"/>
                        </a:rPr>
                      </a:br>
                      <a:r>
                        <a:rPr lang="en-US" sz="1800" b="0" i="0" kern="1200" dirty="0">
                          <a:solidFill>
                            <a:schemeClr val="dk1"/>
                          </a:solidFill>
                          <a:effectLst/>
                          <a:latin typeface="+mn-lt"/>
                          <a:ea typeface="+mn-ea"/>
                          <a:cs typeface="+mn-cs"/>
                        </a:rPr>
                        <a:t>• Model‑dependent approach</a:t>
                      </a:r>
                      <a:br>
                        <a:rPr lang="en-US" sz="1800" b="0" i="0" kern="1200" dirty="0">
                          <a:solidFill>
                            <a:schemeClr val="dk1"/>
                          </a:solidFill>
                          <a:effectLst/>
                          <a:latin typeface="+mn-lt"/>
                          <a:ea typeface="+mn-ea"/>
                          <a:cs typeface="+mn-cs"/>
                        </a:rPr>
                      </a:br>
                      <a:r>
                        <a:rPr lang="en-US" sz="1800" b="0" i="0" kern="1200" dirty="0">
                          <a:solidFill>
                            <a:schemeClr val="dk1"/>
                          </a:solidFill>
                          <a:effectLst/>
                          <a:latin typeface="+mn-lt"/>
                          <a:ea typeface="+mn-ea"/>
                          <a:cs typeface="+mn-cs"/>
                        </a:rPr>
                        <a:t>• Cannot guarantee reliability</a:t>
                      </a:r>
                    </a:p>
                    <a:p>
                      <a:br>
                        <a:rPr lang="en-US" dirty="0"/>
                      </a:b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5361007"/>
                  </a:ext>
                </a:extLst>
              </a:tr>
            </a:tbl>
          </a:graphicData>
        </a:graphic>
      </p:graphicFrame>
      <p:pic>
        <p:nvPicPr>
          <p:cNvPr id="3" name="image1.png">
            <a:extLst>
              <a:ext uri="{FF2B5EF4-FFF2-40B4-BE49-F238E27FC236}">
                <a16:creationId xmlns:a16="http://schemas.microsoft.com/office/drawing/2014/main" id="{FBDFD803-1CE4-D21F-80FF-3A1F8F89E844}"/>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2922511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ACA1A-D9A6-3AB5-B103-2C8F6F389CB6}"/>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86D7944E-0731-A0C0-FF39-1614A67C578E}"/>
              </a:ext>
            </a:extLst>
          </p:cNvPr>
          <p:cNvSpPr>
            <a:spLocks noGrp="1"/>
          </p:cNvSpPr>
          <p:nvPr>
            <p:ph idx="1"/>
          </p:nvPr>
        </p:nvSpPr>
        <p:spPr/>
        <p:txBody>
          <a:bodyPr/>
          <a:lstStyle/>
          <a:p>
            <a:endParaRPr lang="en-US"/>
          </a:p>
        </p:txBody>
      </p:sp>
      <p:graphicFrame>
        <p:nvGraphicFramePr>
          <p:cNvPr id="9" name="Content Placeholder 3">
            <a:extLst>
              <a:ext uri="{FF2B5EF4-FFF2-40B4-BE49-F238E27FC236}">
                <a16:creationId xmlns:a16="http://schemas.microsoft.com/office/drawing/2014/main" id="{3A0B50B8-BBE6-AF06-4937-F4FD51FADBD3}"/>
              </a:ext>
            </a:extLst>
          </p:cNvPr>
          <p:cNvGraphicFramePr>
            <a:graphicFrameLocks/>
          </p:cNvGraphicFramePr>
          <p:nvPr>
            <p:extLst>
              <p:ext uri="{D42A27DB-BD31-4B8C-83A1-F6EECF244321}">
                <p14:modId xmlns:p14="http://schemas.microsoft.com/office/powerpoint/2010/main" val="1767697202"/>
              </p:ext>
            </p:extLst>
          </p:nvPr>
        </p:nvGraphicFramePr>
        <p:xfrm>
          <a:off x="840036" y="1836144"/>
          <a:ext cx="10515592" cy="4200895"/>
        </p:xfrm>
        <a:graphic>
          <a:graphicData uri="http://schemas.openxmlformats.org/drawingml/2006/table">
            <a:tbl>
              <a:tblPr firstRow="1" bandRow="1">
                <a:tableStyleId>{5C22544A-7EE6-4342-B048-85BDC9FD1C3A}</a:tableStyleId>
              </a:tblPr>
              <a:tblGrid>
                <a:gridCol w="2628898">
                  <a:extLst>
                    <a:ext uri="{9D8B030D-6E8A-4147-A177-3AD203B41FA5}">
                      <a16:colId xmlns:a16="http://schemas.microsoft.com/office/drawing/2014/main" val="811622105"/>
                    </a:ext>
                  </a:extLst>
                </a:gridCol>
                <a:gridCol w="2628898">
                  <a:extLst>
                    <a:ext uri="{9D8B030D-6E8A-4147-A177-3AD203B41FA5}">
                      <a16:colId xmlns:a16="http://schemas.microsoft.com/office/drawing/2014/main" val="3309788006"/>
                    </a:ext>
                  </a:extLst>
                </a:gridCol>
                <a:gridCol w="2628898">
                  <a:extLst>
                    <a:ext uri="{9D8B030D-6E8A-4147-A177-3AD203B41FA5}">
                      <a16:colId xmlns:a16="http://schemas.microsoft.com/office/drawing/2014/main" val="1549203288"/>
                    </a:ext>
                  </a:extLst>
                </a:gridCol>
                <a:gridCol w="2628898">
                  <a:extLst>
                    <a:ext uri="{9D8B030D-6E8A-4147-A177-3AD203B41FA5}">
                      <a16:colId xmlns:a16="http://schemas.microsoft.com/office/drawing/2014/main" val="1852230661"/>
                    </a:ext>
                  </a:extLst>
                </a:gridCol>
              </a:tblGrid>
              <a:tr h="1527599">
                <a:tc>
                  <a:txBody>
                    <a:bodyPr/>
                    <a:lstStyle/>
                    <a:p>
                      <a:pPr>
                        <a:buNone/>
                      </a:pPr>
                      <a:r>
                        <a:rPr lang="en-IN" err="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pPr lvl="0" algn="l">
                        <a:lnSpc>
                          <a:spcPct val="100000"/>
                        </a:lnSpc>
                        <a:spcBef>
                          <a:spcPts val="0"/>
                        </a:spcBef>
                        <a:spcAft>
                          <a:spcPts val="0"/>
                        </a:spcAft>
                        <a:buNone/>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Title (Name of the journal, author, and publication</a:t>
                      </a:r>
                      <a:endParaRPr lang="en-US" sz="1800" b="1" i="0" u="none" strike="noStrike" noProof="0">
                        <a:solidFill>
                          <a:srgbClr val="FFFFFF"/>
                        </a:solidFill>
                        <a:latin typeface="Times New Roman" panose="02020603050405020304" pitchFamily="18" charset="0"/>
                        <a:ea typeface="Calibri"/>
                        <a:cs typeface="Times New Roman" panose="02020603050405020304" pitchFamily="18" charset="0"/>
                      </a:endParaRPr>
                    </a:p>
                    <a:p>
                      <a:pPr lvl="0" defTabSz="914400">
                        <a:buNone/>
                        <a:tabLst/>
                        <a:defRPr/>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details)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Identification of Gaps /Limitations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52049101"/>
                  </a:ext>
                </a:extLst>
              </a:tr>
              <a:tr h="2673296">
                <a:tc>
                  <a:txBody>
                    <a:bodyPr/>
                    <a:lstStyle/>
                    <a:p>
                      <a:pPr algn="l"/>
                      <a:r>
                        <a:rPr lang="en-US">
                          <a:latin typeface="Times New Roman" panose="02020603050405020304" pitchFamily="18" charset="0"/>
                          <a:cs typeface="Times New Roman" panose="02020603050405020304" pitchFamily="18" charset="0"/>
                        </a:rPr>
                        <a:t>9</a:t>
                      </a: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OWASP, 2024. </a:t>
                      </a:r>
                      <a:r>
                        <a:rPr lang="en-US" sz="1800" b="0" i="1" kern="1200" dirty="0">
                          <a:solidFill>
                            <a:schemeClr val="dk1"/>
                          </a:solidFill>
                          <a:effectLst/>
                          <a:latin typeface="+mn-lt"/>
                          <a:ea typeface="+mn-ea"/>
                          <a:cs typeface="+mn-cs"/>
                        </a:rPr>
                        <a:t>Top 10 Risks for LLM Applications.</a:t>
                      </a:r>
                      <a:endParaRPr lang="en-IN" sz="1800" b="0" i="0" u="none" strike="noStrike" noProof="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Risk assessment of LLM vulnerabilities</a:t>
                      </a:r>
                      <a:br>
                        <a:rPr lang="en-US" dirty="0"/>
                      </a:br>
                      <a:r>
                        <a:rPr lang="en-US" sz="1800" b="0" i="0" kern="1200" dirty="0">
                          <a:solidFill>
                            <a:schemeClr val="dk1"/>
                          </a:solidFill>
                          <a:effectLst/>
                          <a:latin typeface="+mn-lt"/>
                          <a:ea typeface="+mn-ea"/>
                          <a:cs typeface="+mn-cs"/>
                        </a:rPr>
                        <a:t>• Security analysis of AI systems</a:t>
                      </a:r>
                      <a:br>
                        <a:rPr lang="en-US" dirty="0"/>
                      </a:br>
                      <a:r>
                        <a:rPr lang="en-US" sz="1800" b="0" i="0" kern="1200" dirty="0">
                          <a:solidFill>
                            <a:schemeClr val="dk1"/>
                          </a:solidFill>
                          <a:effectLst/>
                          <a:latin typeface="+mn-lt"/>
                          <a:ea typeface="+mn-ea"/>
                          <a:cs typeface="+mn-cs"/>
                        </a:rPr>
                        <a:t>• Identification of major threat vectors</a:t>
                      </a:r>
                      <a:endParaRPr lang="en-US" sz="1800" b="0" i="0" u="none" strike="noStrike" noProof="0"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No technical detection solution</a:t>
                      </a:r>
                      <a:br>
                        <a:rPr lang="en-US" dirty="0"/>
                      </a:br>
                      <a:r>
                        <a:rPr lang="en-US" sz="1800" b="0" i="0" kern="1200" dirty="0">
                          <a:solidFill>
                            <a:schemeClr val="dk1"/>
                          </a:solidFill>
                          <a:effectLst/>
                          <a:latin typeface="+mn-lt"/>
                          <a:ea typeface="+mn-ea"/>
                          <a:cs typeface="+mn-cs"/>
                        </a:rPr>
                        <a:t>• Framework‑level guidance only</a:t>
                      </a:r>
                      <a:br>
                        <a:rPr lang="en-US" dirty="0"/>
                      </a:br>
                      <a:r>
                        <a:rPr lang="en-US" sz="1800" b="0" i="0" kern="1200" dirty="0">
                          <a:solidFill>
                            <a:schemeClr val="dk1"/>
                          </a:solidFill>
                          <a:effectLst/>
                          <a:latin typeface="+mn-lt"/>
                          <a:ea typeface="+mn-ea"/>
                          <a:cs typeface="+mn-cs"/>
                        </a:rPr>
                        <a:t>• Requires implementation support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5361007"/>
                  </a:ext>
                </a:extLst>
              </a:tr>
            </a:tbl>
          </a:graphicData>
        </a:graphic>
      </p:graphicFrame>
      <p:pic>
        <p:nvPicPr>
          <p:cNvPr id="3" name="image1.png">
            <a:extLst>
              <a:ext uri="{FF2B5EF4-FFF2-40B4-BE49-F238E27FC236}">
                <a16:creationId xmlns:a16="http://schemas.microsoft.com/office/drawing/2014/main" id="{7601D82E-C8BC-A023-BD1E-D8A71AC2C569}"/>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429179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7A7A0-B280-8FC4-2B01-9BEF0147AB0A}"/>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637C5B95-9404-F62D-6221-9CE1843FFF78}"/>
              </a:ext>
            </a:extLst>
          </p:cNvPr>
          <p:cNvSpPr>
            <a:spLocks noGrp="1"/>
          </p:cNvSpPr>
          <p:nvPr>
            <p:ph idx="1"/>
          </p:nvPr>
        </p:nvSpPr>
        <p:spPr/>
        <p:txBody>
          <a:bodyPr/>
          <a:lstStyle/>
          <a:p>
            <a:endParaRPr lang="en-US"/>
          </a:p>
        </p:txBody>
      </p:sp>
      <p:graphicFrame>
        <p:nvGraphicFramePr>
          <p:cNvPr id="9" name="Content Placeholder 3">
            <a:extLst>
              <a:ext uri="{FF2B5EF4-FFF2-40B4-BE49-F238E27FC236}">
                <a16:creationId xmlns:a16="http://schemas.microsoft.com/office/drawing/2014/main" id="{E5199D8C-EEFB-0714-F704-CCB039DB1641}"/>
              </a:ext>
            </a:extLst>
          </p:cNvPr>
          <p:cNvGraphicFramePr>
            <a:graphicFrameLocks/>
          </p:cNvGraphicFramePr>
          <p:nvPr>
            <p:extLst>
              <p:ext uri="{D42A27DB-BD31-4B8C-83A1-F6EECF244321}">
                <p14:modId xmlns:p14="http://schemas.microsoft.com/office/powerpoint/2010/main" val="2505991962"/>
              </p:ext>
            </p:extLst>
          </p:nvPr>
        </p:nvGraphicFramePr>
        <p:xfrm>
          <a:off x="840036" y="1836144"/>
          <a:ext cx="10515592" cy="4200895"/>
        </p:xfrm>
        <a:graphic>
          <a:graphicData uri="http://schemas.openxmlformats.org/drawingml/2006/table">
            <a:tbl>
              <a:tblPr firstRow="1" bandRow="1">
                <a:tableStyleId>{5C22544A-7EE6-4342-B048-85BDC9FD1C3A}</a:tableStyleId>
              </a:tblPr>
              <a:tblGrid>
                <a:gridCol w="2628898">
                  <a:extLst>
                    <a:ext uri="{9D8B030D-6E8A-4147-A177-3AD203B41FA5}">
                      <a16:colId xmlns:a16="http://schemas.microsoft.com/office/drawing/2014/main" val="811622105"/>
                    </a:ext>
                  </a:extLst>
                </a:gridCol>
                <a:gridCol w="2628898">
                  <a:extLst>
                    <a:ext uri="{9D8B030D-6E8A-4147-A177-3AD203B41FA5}">
                      <a16:colId xmlns:a16="http://schemas.microsoft.com/office/drawing/2014/main" val="3309788006"/>
                    </a:ext>
                  </a:extLst>
                </a:gridCol>
                <a:gridCol w="2628898">
                  <a:extLst>
                    <a:ext uri="{9D8B030D-6E8A-4147-A177-3AD203B41FA5}">
                      <a16:colId xmlns:a16="http://schemas.microsoft.com/office/drawing/2014/main" val="1549203288"/>
                    </a:ext>
                  </a:extLst>
                </a:gridCol>
                <a:gridCol w="2628898">
                  <a:extLst>
                    <a:ext uri="{9D8B030D-6E8A-4147-A177-3AD203B41FA5}">
                      <a16:colId xmlns:a16="http://schemas.microsoft.com/office/drawing/2014/main" val="1852230661"/>
                    </a:ext>
                  </a:extLst>
                </a:gridCol>
              </a:tblGrid>
              <a:tr h="1527599">
                <a:tc>
                  <a:txBody>
                    <a:bodyPr/>
                    <a:lstStyle/>
                    <a:p>
                      <a:pPr>
                        <a:buNone/>
                      </a:pPr>
                      <a:r>
                        <a:rPr lang="en-IN" err="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pPr lvl="0" algn="l">
                        <a:lnSpc>
                          <a:spcPct val="100000"/>
                        </a:lnSpc>
                        <a:spcBef>
                          <a:spcPts val="0"/>
                        </a:spcBef>
                        <a:spcAft>
                          <a:spcPts val="0"/>
                        </a:spcAft>
                        <a:buNone/>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Title (Name of the journal, author, and publication</a:t>
                      </a:r>
                      <a:endParaRPr lang="en-US" sz="1800" b="1" i="0" u="none" strike="noStrike" noProof="0">
                        <a:solidFill>
                          <a:srgbClr val="FFFFFF"/>
                        </a:solidFill>
                        <a:latin typeface="Times New Roman" panose="02020603050405020304" pitchFamily="18" charset="0"/>
                        <a:ea typeface="Calibri"/>
                        <a:cs typeface="Times New Roman" panose="02020603050405020304" pitchFamily="18" charset="0"/>
                      </a:endParaRPr>
                    </a:p>
                    <a:p>
                      <a:pPr lvl="0" defTabSz="914400">
                        <a:buNone/>
                        <a:tabLst/>
                        <a:defRPr/>
                      </a:pPr>
                      <a:r>
                        <a:rPr lang="en-US" sz="1800" b="0" i="0" u="none" strike="noStrike" noProof="0">
                          <a:solidFill>
                            <a:srgbClr val="FFFFFF"/>
                          </a:solidFill>
                          <a:latin typeface="Times New Roman" panose="02020603050405020304" pitchFamily="18" charset="0"/>
                          <a:ea typeface="Calibri"/>
                          <a:cs typeface="Times New Roman" panose="02020603050405020304" pitchFamily="18" charset="0"/>
                        </a:rPr>
                        <a:t>details)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Identification of Gaps /Limitations</a:t>
                      </a:r>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52049101"/>
                  </a:ext>
                </a:extLst>
              </a:tr>
              <a:tr h="2673296">
                <a:tc>
                  <a:txBody>
                    <a:bodyPr/>
                    <a:lstStyle/>
                    <a:p>
                      <a:pPr algn="l"/>
                      <a:r>
                        <a:rPr lang="en-US">
                          <a:latin typeface="Times New Roman" panose="02020603050405020304" pitchFamily="18" charset="0"/>
                          <a:cs typeface="Times New Roman" panose="02020603050405020304" pitchFamily="18" charset="0"/>
                        </a:rPr>
                        <a:t>10</a:t>
                      </a:r>
                    </a:p>
                  </a:txBody>
                  <a:tcPr/>
                </a:tc>
                <a:tc>
                  <a:txBody>
                    <a:bodyPr/>
                    <a:lstStyle/>
                    <a:p>
                      <a:pPr marL="0" marR="0" lvl="0" indent="0" algn="l">
                        <a:lnSpc>
                          <a:spcPct val="100000"/>
                        </a:lnSpc>
                        <a:spcBef>
                          <a:spcPts val="0"/>
                        </a:spcBef>
                        <a:spcAft>
                          <a:spcPts val="0"/>
                        </a:spcAft>
                        <a:buNone/>
                      </a:pPr>
                      <a:r>
                        <a:rPr lang="en-US" sz="1800" b="0" i="0" kern="1200" dirty="0">
                          <a:solidFill>
                            <a:schemeClr val="dk1"/>
                          </a:solidFill>
                          <a:effectLst/>
                          <a:latin typeface="+mn-lt"/>
                          <a:ea typeface="+mn-ea"/>
                          <a:cs typeface="+mn-cs"/>
                        </a:rPr>
                        <a:t>Carlini, N., et al., 2021. </a:t>
                      </a:r>
                      <a:r>
                        <a:rPr lang="en-US" sz="1800" b="0" i="1" kern="1200" dirty="0">
                          <a:solidFill>
                            <a:schemeClr val="dk1"/>
                          </a:solidFill>
                          <a:effectLst/>
                          <a:latin typeface="+mn-lt"/>
                          <a:ea typeface="+mn-ea"/>
                          <a:cs typeface="+mn-cs"/>
                        </a:rPr>
                        <a:t>Extracting Training Data from Large Language Models.</a:t>
                      </a:r>
                      <a:endParaRPr lang="en-I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Demonstrated data extraction via adversarial queries</a:t>
                      </a:r>
                      <a:br>
                        <a:rPr lang="en-US" dirty="0"/>
                      </a:br>
                      <a:r>
                        <a:rPr lang="en-US" sz="1800" b="0" i="0" kern="1200" dirty="0">
                          <a:solidFill>
                            <a:schemeClr val="dk1"/>
                          </a:solidFill>
                          <a:effectLst/>
                          <a:latin typeface="+mn-lt"/>
                          <a:ea typeface="+mn-ea"/>
                          <a:cs typeface="+mn-cs"/>
                        </a:rPr>
                        <a:t>• Analyzed privacy risks in LLM outputs</a:t>
                      </a:r>
                      <a:br>
                        <a:rPr lang="en-US" dirty="0"/>
                      </a:br>
                      <a:r>
                        <a:rPr lang="en-US" sz="1800" b="0" i="0" kern="1200" dirty="0">
                          <a:solidFill>
                            <a:schemeClr val="dk1"/>
                          </a:solidFill>
                          <a:effectLst/>
                          <a:latin typeface="+mn-lt"/>
                          <a:ea typeface="+mn-ea"/>
                          <a:cs typeface="+mn-cs"/>
                        </a:rPr>
                        <a:t>• Evaluated vulnerability to malicious prompts</a:t>
                      </a:r>
                      <a:endParaRPr lang="en-IN" dirty="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800" b="0" i="0" kern="1200" dirty="0">
                          <a:solidFill>
                            <a:schemeClr val="dk1"/>
                          </a:solidFill>
                          <a:effectLst/>
                          <a:latin typeface="+mn-lt"/>
                          <a:ea typeface="+mn-ea"/>
                          <a:cs typeface="+mn-cs"/>
                        </a:rPr>
                        <a:t>• Not focused specifically on prompt injection</a:t>
                      </a:r>
                      <a:br>
                        <a:rPr lang="en-US" dirty="0"/>
                      </a:br>
                      <a:r>
                        <a:rPr lang="en-US" sz="1800" b="0" i="0" kern="1200" dirty="0">
                          <a:solidFill>
                            <a:schemeClr val="dk1"/>
                          </a:solidFill>
                          <a:effectLst/>
                          <a:latin typeface="+mn-lt"/>
                          <a:ea typeface="+mn-ea"/>
                          <a:cs typeface="+mn-cs"/>
                        </a:rPr>
                        <a:t>• No preventive mechanisms</a:t>
                      </a:r>
                      <a:br>
                        <a:rPr lang="en-US" dirty="0"/>
                      </a:br>
                      <a:r>
                        <a:rPr lang="en-US" sz="1800" b="0" i="0" kern="1200" dirty="0">
                          <a:solidFill>
                            <a:schemeClr val="dk1"/>
                          </a:solidFill>
                          <a:effectLst/>
                          <a:latin typeface="+mn-lt"/>
                          <a:ea typeface="+mn-ea"/>
                          <a:cs typeface="+mn-cs"/>
                        </a:rPr>
                        <a:t>• Highlights need for stronger defenses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5361007"/>
                  </a:ext>
                </a:extLst>
              </a:tr>
            </a:tbl>
          </a:graphicData>
        </a:graphic>
      </p:graphicFrame>
      <p:pic>
        <p:nvPicPr>
          <p:cNvPr id="3" name="image1.png">
            <a:extLst>
              <a:ext uri="{FF2B5EF4-FFF2-40B4-BE49-F238E27FC236}">
                <a16:creationId xmlns:a16="http://schemas.microsoft.com/office/drawing/2014/main" id="{33BA56F2-E4E7-46E9-0F29-F3502DD530A8}"/>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740977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946F9-4C2E-CA6B-FE07-EF25BC4857E0}"/>
              </a:ext>
            </a:extLst>
          </p:cNvPr>
          <p:cNvSpPr>
            <a:spLocks noGrp="1"/>
          </p:cNvSpPr>
          <p:nvPr>
            <p:ph type="title"/>
          </p:nvPr>
        </p:nvSpPr>
        <p:spPr/>
        <p:txBody>
          <a:bodyPr>
            <a:normAutofit/>
          </a:bodyPr>
          <a:lstStyle/>
          <a:p>
            <a:pPr algn="ctr"/>
            <a:br>
              <a:rPr lang="en-US" sz="3200" b="1" dirty="0">
                <a:latin typeface="Times New Roman"/>
                <a:cs typeface="Times New Roman"/>
              </a:rPr>
            </a:br>
            <a:r>
              <a:rPr lang="en-US" sz="3200" b="1" dirty="0">
                <a:latin typeface="Times New Roman"/>
                <a:ea typeface="Calibri Light" panose="020F0302020204030204"/>
                <a:cs typeface="Times New Roman"/>
              </a:rPr>
              <a:t>INFERENCE FROM LITERATURE SURVEY</a:t>
            </a:r>
          </a:p>
        </p:txBody>
      </p:sp>
      <p:sp>
        <p:nvSpPr>
          <p:cNvPr id="3" name="Content Placeholder 2">
            <a:extLst>
              <a:ext uri="{FF2B5EF4-FFF2-40B4-BE49-F238E27FC236}">
                <a16:creationId xmlns:a16="http://schemas.microsoft.com/office/drawing/2014/main" id="{4E54BE25-B3B2-3D6A-C4AE-63C2E7177F70}"/>
              </a:ext>
            </a:extLst>
          </p:cNvPr>
          <p:cNvSpPr>
            <a:spLocks noGrp="1"/>
          </p:cNvSpPr>
          <p:nvPr>
            <p:ph idx="1"/>
          </p:nvPr>
        </p:nvSpPr>
        <p:spPr>
          <a:xfrm>
            <a:off x="838200" y="1825625"/>
            <a:ext cx="10665994" cy="4351338"/>
          </a:xfrm>
        </p:spPr>
        <p:txBody>
          <a:bodyPr vert="horz" lIns="91440" tIns="45720" rIns="91440" bIns="45720" rtlCol="0" anchor="t">
            <a:normAutofit fontScale="92500" lnSpcReduction="10000"/>
          </a:bodyPr>
          <a:lstStyle/>
          <a:p>
            <a:pPr algn="just">
              <a:lnSpc>
                <a:spcPct val="150000"/>
              </a:lnSpc>
            </a:pPr>
            <a:r>
              <a:rPr lang="en-US" sz="2000" dirty="0">
                <a:latin typeface="Times New Roman"/>
                <a:cs typeface="Times New Roman"/>
              </a:rPr>
              <a:t>The literature survey reveals that prompt injection attacks represent a significant and emerging security threat to large language model applications. Existing research primarily focuses on demonstrating attack techniques or proposing isolated defense strategies, such as rule‑based filtering or post‑response moderation, which are often inadequate against sophisticated adversarial prompts. Many approaches lack the ability to understand the semantic intent behind user inputs and fail to consider behavioral patterns across interactions, making them vulnerable to paraphrased or indirect attacks. Furthermore, there is a noticeable absence of comprehensive real‑time detection frameworks that integrate multiple defensive strategies into a unified system. These findings highlight the need for a robust hybrid approach that combines semantic analysis with behavioral monitoring to proactively detect and prevent prompt injection attempts before they compromise the integrity of LLM systems.</a:t>
            </a:r>
            <a:endParaRPr lang="en-US" sz="2000" dirty="0">
              <a:latin typeface="Times New Roman"/>
              <a:ea typeface="Calibri"/>
              <a:cs typeface="Times New Roman"/>
            </a:endParaRPr>
          </a:p>
        </p:txBody>
      </p:sp>
      <p:pic>
        <p:nvPicPr>
          <p:cNvPr id="4" name="image1.png">
            <a:extLst>
              <a:ext uri="{FF2B5EF4-FFF2-40B4-BE49-F238E27FC236}">
                <a16:creationId xmlns:a16="http://schemas.microsoft.com/office/drawing/2014/main" id="{07A6B598-6038-F99B-E7B1-ED00B947CAB8}"/>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3300690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27654-54D5-B5EB-1943-25C0BFAF7527}"/>
              </a:ext>
            </a:extLst>
          </p:cNvPr>
          <p:cNvSpPr>
            <a:spLocks noGrp="1"/>
          </p:cNvSpPr>
          <p:nvPr>
            <p:ph type="title"/>
          </p:nvPr>
        </p:nvSpPr>
        <p:spPr>
          <a:xfrm>
            <a:off x="838200" y="182675"/>
            <a:ext cx="10515600" cy="803630"/>
          </a:xfrm>
        </p:spPr>
        <p:txBody>
          <a:bodyPr>
            <a:normAutofit/>
          </a:bodyPr>
          <a:lstStyle/>
          <a:p>
            <a:pPr algn="ctr"/>
            <a:r>
              <a:rPr lang="en-US" sz="3200" b="1" dirty="0">
                <a:latin typeface="Times New Roman"/>
                <a:cs typeface="Times New Roman"/>
              </a:rPr>
              <a:t>METHODOLOGY / TOOLS / ALGORITHM</a:t>
            </a:r>
            <a:endParaRPr lang="en-US" sz="3200" dirty="0">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0D7515A1-1A25-CDD5-135A-038E26C874D1}"/>
              </a:ext>
            </a:extLst>
          </p:cNvPr>
          <p:cNvSpPr>
            <a:spLocks noGrp="1"/>
          </p:cNvSpPr>
          <p:nvPr>
            <p:ph idx="1"/>
          </p:nvPr>
        </p:nvSpPr>
        <p:spPr>
          <a:xfrm>
            <a:off x="838200" y="1290180"/>
            <a:ext cx="10515600" cy="5188535"/>
          </a:xfrm>
        </p:spPr>
        <p:txBody>
          <a:bodyPr vert="horz" lIns="91440" tIns="45720" rIns="91440" bIns="45720" rtlCol="0" anchor="t">
            <a:noAutofit/>
          </a:bodyPr>
          <a:lstStyle/>
          <a:p>
            <a:pPr indent="0" algn="just">
              <a:lnSpc>
                <a:spcPct val="150000"/>
              </a:lnSpc>
              <a:spcBef>
                <a:spcPts val="500"/>
              </a:spcBef>
              <a:buNone/>
            </a:pPr>
            <a:r>
              <a:rPr lang="en-US" sz="1600" b="1" dirty="0">
                <a:latin typeface="Times New Roman"/>
                <a:cs typeface="Times New Roman"/>
              </a:rPr>
              <a:t>Methodology</a:t>
            </a:r>
            <a:endParaRPr lang="en-US" sz="1600" b="1" dirty="0">
              <a:latin typeface="Times New Roman"/>
              <a:ea typeface="Calibri" panose="020F0502020204030204"/>
              <a:cs typeface="Times New Roman"/>
            </a:endParaRPr>
          </a:p>
          <a:p>
            <a:pPr marL="571500" indent="-342900" algn="just">
              <a:lnSpc>
                <a:spcPct val="150000"/>
              </a:lnSpc>
              <a:spcBef>
                <a:spcPts val="500"/>
              </a:spcBef>
            </a:pPr>
            <a:r>
              <a:rPr lang="en-US" sz="1600" dirty="0">
                <a:latin typeface="Times New Roman"/>
                <a:ea typeface="+mn-lt"/>
                <a:cs typeface="Times New Roman"/>
              </a:rPr>
              <a:t>Collect dataset of benign and malicious prompts</a:t>
            </a:r>
          </a:p>
          <a:p>
            <a:pPr marL="571500" indent="-342900" algn="just">
              <a:lnSpc>
                <a:spcPct val="150000"/>
              </a:lnSpc>
              <a:spcBef>
                <a:spcPts val="500"/>
              </a:spcBef>
            </a:pPr>
            <a:r>
              <a:rPr lang="en-US" sz="1600" dirty="0">
                <a:latin typeface="Times New Roman"/>
                <a:ea typeface="+mn-lt"/>
                <a:cs typeface="Times New Roman"/>
              </a:rPr>
              <a:t>Preprocess text data</a:t>
            </a:r>
          </a:p>
          <a:p>
            <a:pPr marL="571500" indent="-342900" algn="just">
              <a:lnSpc>
                <a:spcPct val="150000"/>
              </a:lnSpc>
              <a:spcBef>
                <a:spcPts val="500"/>
              </a:spcBef>
            </a:pPr>
            <a:r>
              <a:rPr lang="en-US" sz="1600" dirty="0">
                <a:latin typeface="Times New Roman"/>
                <a:ea typeface="+mn-lt"/>
                <a:cs typeface="Times New Roman"/>
              </a:rPr>
              <a:t>Extract semantic features</a:t>
            </a:r>
          </a:p>
          <a:p>
            <a:pPr marL="571500" indent="-342900" algn="just">
              <a:lnSpc>
                <a:spcPct val="150000"/>
              </a:lnSpc>
              <a:spcBef>
                <a:spcPts val="500"/>
              </a:spcBef>
            </a:pPr>
            <a:r>
              <a:rPr lang="en-US" sz="1600" dirty="0">
                <a:latin typeface="Times New Roman"/>
                <a:ea typeface="+mn-lt"/>
                <a:cs typeface="Times New Roman"/>
              </a:rPr>
              <a:t>Analyze behavioral patterns</a:t>
            </a:r>
          </a:p>
          <a:p>
            <a:pPr marL="571500" indent="-342900" algn="just">
              <a:lnSpc>
                <a:spcPct val="150000"/>
              </a:lnSpc>
              <a:spcBef>
                <a:spcPts val="500"/>
              </a:spcBef>
            </a:pPr>
            <a:r>
              <a:rPr lang="en-US" sz="1600" dirty="0">
                <a:latin typeface="Times New Roman"/>
                <a:ea typeface="+mn-lt"/>
                <a:cs typeface="Times New Roman"/>
              </a:rPr>
              <a:t>Train classification model</a:t>
            </a:r>
          </a:p>
          <a:p>
            <a:pPr marL="571500" indent="-342900" algn="just">
              <a:lnSpc>
                <a:spcPct val="150000"/>
              </a:lnSpc>
              <a:spcBef>
                <a:spcPts val="500"/>
              </a:spcBef>
            </a:pPr>
            <a:r>
              <a:rPr lang="en-US" sz="1600" dirty="0">
                <a:latin typeface="Times New Roman"/>
                <a:ea typeface="+mn-lt"/>
                <a:cs typeface="Times New Roman"/>
              </a:rPr>
              <a:t>Evaluate performance</a:t>
            </a:r>
            <a:r>
              <a:rPr lang="en-US" sz="1600" b="1" dirty="0">
                <a:latin typeface="Times New Roman"/>
                <a:cs typeface="Times New Roman"/>
              </a:rPr>
              <a:t>  </a:t>
            </a:r>
          </a:p>
          <a:p>
            <a:pPr indent="0" algn="just">
              <a:lnSpc>
                <a:spcPct val="150000"/>
              </a:lnSpc>
              <a:spcBef>
                <a:spcPts val="500"/>
              </a:spcBef>
              <a:buNone/>
            </a:pPr>
            <a:r>
              <a:rPr lang="en-US" sz="1600" b="1" dirty="0">
                <a:latin typeface="Times New Roman"/>
                <a:cs typeface="Times New Roman"/>
              </a:rPr>
              <a:t>Tools</a:t>
            </a:r>
            <a:endParaRPr lang="en-US" sz="1600" b="1" dirty="0">
              <a:latin typeface="Times New Roman"/>
              <a:ea typeface="Calibri"/>
              <a:cs typeface="Times New Roman"/>
            </a:endParaRPr>
          </a:p>
          <a:p>
            <a:pPr marL="571500" indent="-342900" algn="just">
              <a:lnSpc>
                <a:spcPct val="150000"/>
              </a:lnSpc>
              <a:spcBef>
                <a:spcPts val="500"/>
              </a:spcBef>
            </a:pPr>
            <a:r>
              <a:rPr lang="en-US" sz="1600" dirty="0">
                <a:latin typeface="Times New Roman"/>
                <a:ea typeface="Calibri" panose="020F0502020204030204"/>
                <a:cs typeface="Times New Roman"/>
              </a:rPr>
              <a:t>Python</a:t>
            </a:r>
          </a:p>
          <a:p>
            <a:pPr marL="571500" indent="-342900" algn="just">
              <a:lnSpc>
                <a:spcPct val="150000"/>
              </a:lnSpc>
              <a:spcBef>
                <a:spcPts val="500"/>
              </a:spcBef>
            </a:pPr>
            <a:r>
              <a:rPr lang="en-US" sz="1600" dirty="0">
                <a:latin typeface="Times New Roman"/>
                <a:ea typeface="Calibri" panose="020F0502020204030204"/>
                <a:cs typeface="Times New Roman"/>
              </a:rPr>
              <a:t>NLP libraries (Transformers, NLTK)</a:t>
            </a:r>
          </a:p>
          <a:p>
            <a:pPr marL="571500" indent="-342900" algn="just">
              <a:lnSpc>
                <a:spcPct val="150000"/>
              </a:lnSpc>
              <a:spcBef>
                <a:spcPts val="500"/>
              </a:spcBef>
            </a:pPr>
            <a:r>
              <a:rPr lang="en-US" sz="1600" dirty="0">
                <a:latin typeface="Times New Roman"/>
                <a:ea typeface="Calibri" panose="020F0502020204030204"/>
                <a:cs typeface="Times New Roman"/>
              </a:rPr>
              <a:t>Machine Learning frameworks</a:t>
            </a:r>
          </a:p>
          <a:p>
            <a:pPr marL="571500" indent="-342900" algn="just">
              <a:lnSpc>
                <a:spcPct val="150000"/>
              </a:lnSpc>
              <a:spcBef>
                <a:spcPts val="500"/>
              </a:spcBef>
            </a:pPr>
            <a:r>
              <a:rPr lang="en-US" sz="1600" dirty="0">
                <a:latin typeface="Times New Roman"/>
                <a:ea typeface="Calibri" panose="020F0502020204030204"/>
                <a:cs typeface="Times New Roman"/>
              </a:rPr>
              <a:t>Dataset repositories</a:t>
            </a:r>
          </a:p>
        </p:txBody>
      </p:sp>
      <p:pic>
        <p:nvPicPr>
          <p:cNvPr id="4" name="image1.png">
            <a:extLst>
              <a:ext uri="{FF2B5EF4-FFF2-40B4-BE49-F238E27FC236}">
                <a16:creationId xmlns:a16="http://schemas.microsoft.com/office/drawing/2014/main" id="{9F7191ED-20CC-C073-4E0B-BBB2FE191BBF}"/>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4286552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9BE45-1DDD-1C85-87B9-937891A5508B}"/>
              </a:ext>
            </a:extLst>
          </p:cNvPr>
          <p:cNvSpPr>
            <a:spLocks noGrp="1"/>
          </p:cNvSpPr>
          <p:nvPr>
            <p:ph type="title"/>
          </p:nvPr>
        </p:nvSpPr>
        <p:spPr/>
        <p:txBody>
          <a:bodyPr>
            <a:normAutofit/>
          </a:bodyPr>
          <a:lstStyle/>
          <a:p>
            <a:pPr algn="ctr"/>
            <a:r>
              <a:rPr lang="en-US" sz="3200" b="1" dirty="0">
                <a:latin typeface="Times New Roman"/>
                <a:cs typeface="Times New Roman"/>
              </a:rPr>
              <a:t>ALGORITHM</a:t>
            </a:r>
            <a:endParaRPr lang="en-US" sz="3200" dirty="0"/>
          </a:p>
        </p:txBody>
      </p:sp>
      <p:sp>
        <p:nvSpPr>
          <p:cNvPr id="3" name="Content Placeholder 2">
            <a:extLst>
              <a:ext uri="{FF2B5EF4-FFF2-40B4-BE49-F238E27FC236}">
                <a16:creationId xmlns:a16="http://schemas.microsoft.com/office/drawing/2014/main" id="{1F7AC023-6606-1BEC-02CC-AB922D2C30EF}"/>
              </a:ext>
            </a:extLst>
          </p:cNvPr>
          <p:cNvSpPr>
            <a:spLocks noGrp="1"/>
          </p:cNvSpPr>
          <p:nvPr>
            <p:ph idx="1"/>
          </p:nvPr>
        </p:nvSpPr>
        <p:spPr/>
        <p:txBody>
          <a:bodyPr vert="horz" lIns="91440" tIns="45720" rIns="91440" bIns="45720" rtlCol="0" anchor="t">
            <a:normAutofit/>
          </a:bodyPr>
          <a:lstStyle/>
          <a:p>
            <a:pPr marL="342900" indent="-342900">
              <a:lnSpc>
                <a:spcPct val="150000"/>
              </a:lnSpc>
            </a:pPr>
            <a:r>
              <a:rPr lang="en-US" sz="2000" dirty="0">
                <a:latin typeface="Times New Roman"/>
                <a:ea typeface="+mn-lt"/>
                <a:cs typeface="Times New Roman"/>
              </a:rPr>
              <a:t>Step 1: User submits prompt P</a:t>
            </a:r>
          </a:p>
          <a:p>
            <a:pPr marL="342900" indent="-342900">
              <a:lnSpc>
                <a:spcPct val="150000"/>
              </a:lnSpc>
            </a:pPr>
            <a:r>
              <a:rPr lang="en-US" sz="2000" dirty="0">
                <a:latin typeface="Times New Roman"/>
                <a:ea typeface="+mn-lt"/>
                <a:cs typeface="Times New Roman"/>
              </a:rPr>
              <a:t>Step 2: Semantic analysis of P</a:t>
            </a:r>
          </a:p>
          <a:p>
            <a:pPr marL="342900" indent="-342900">
              <a:lnSpc>
                <a:spcPct val="150000"/>
              </a:lnSpc>
            </a:pPr>
            <a:r>
              <a:rPr lang="en-US" sz="2000" dirty="0">
                <a:latin typeface="Times New Roman"/>
                <a:ea typeface="+mn-lt"/>
                <a:cs typeface="Times New Roman"/>
              </a:rPr>
              <a:t>Step 3: Behavioral pattern evaluation</a:t>
            </a:r>
          </a:p>
          <a:p>
            <a:pPr marL="342900" indent="-342900">
              <a:lnSpc>
                <a:spcPct val="150000"/>
              </a:lnSpc>
            </a:pPr>
            <a:r>
              <a:rPr lang="en-US" sz="2000" dirty="0">
                <a:latin typeface="Times New Roman"/>
                <a:ea typeface="+mn-lt"/>
                <a:cs typeface="Times New Roman"/>
              </a:rPr>
              <a:t>Step 4: Feature extraction</a:t>
            </a:r>
          </a:p>
          <a:p>
            <a:pPr marL="342900" indent="-342900">
              <a:lnSpc>
                <a:spcPct val="150000"/>
              </a:lnSpc>
            </a:pPr>
            <a:r>
              <a:rPr lang="en-US" sz="2000" dirty="0">
                <a:latin typeface="Times New Roman"/>
                <a:ea typeface="+mn-lt"/>
                <a:cs typeface="Times New Roman"/>
              </a:rPr>
              <a:t>Step 5: Risk score computation</a:t>
            </a:r>
          </a:p>
          <a:p>
            <a:pPr marL="342900" indent="-342900">
              <a:lnSpc>
                <a:spcPct val="150000"/>
              </a:lnSpc>
            </a:pPr>
            <a:r>
              <a:rPr lang="en-US" sz="2000" dirty="0">
                <a:latin typeface="Times New Roman"/>
                <a:ea typeface="+mn-lt"/>
                <a:cs typeface="Times New Roman"/>
              </a:rPr>
              <a:t>Step 6: Classification (Safe / Suspicious / Malicious)</a:t>
            </a:r>
          </a:p>
          <a:p>
            <a:pPr marL="342900" indent="-342900">
              <a:lnSpc>
                <a:spcPct val="150000"/>
              </a:lnSpc>
            </a:pPr>
            <a:r>
              <a:rPr lang="en-US" sz="2000" dirty="0">
                <a:latin typeface="Times New Roman"/>
                <a:ea typeface="+mn-lt"/>
                <a:cs typeface="Times New Roman"/>
              </a:rPr>
              <a:t>Step 7: Allow or block prompt</a:t>
            </a:r>
            <a:endParaRPr lang="en-US" sz="2000" dirty="0">
              <a:latin typeface="Times New Roman"/>
              <a:ea typeface="Calibri"/>
              <a:cs typeface="Times New Roman"/>
            </a:endParaRPr>
          </a:p>
        </p:txBody>
      </p:sp>
      <p:pic>
        <p:nvPicPr>
          <p:cNvPr id="4" name="image1.png">
            <a:extLst>
              <a:ext uri="{FF2B5EF4-FFF2-40B4-BE49-F238E27FC236}">
                <a16:creationId xmlns:a16="http://schemas.microsoft.com/office/drawing/2014/main" id="{92C9A87E-FD5A-EBB3-3B6E-04D85F225C5A}"/>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3254567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8108-6BC2-4F7A-441F-791305BBD594}"/>
              </a:ext>
            </a:extLst>
          </p:cNvPr>
          <p:cNvSpPr>
            <a:spLocks noGrp="1"/>
          </p:cNvSpPr>
          <p:nvPr>
            <p:ph type="title"/>
          </p:nvPr>
        </p:nvSpPr>
        <p:spPr>
          <a:xfrm>
            <a:off x="838200" y="5590"/>
            <a:ext cx="10515600" cy="1701196"/>
          </a:xfrm>
        </p:spPr>
        <p:txBody>
          <a:bodyPr/>
          <a:lstStyle/>
          <a:p>
            <a:pPr algn="ctr"/>
            <a:r>
              <a:rPr lang="en-US" sz="3200" b="1" dirty="0">
                <a:latin typeface="Times New Roman"/>
                <a:cs typeface="Times New Roman"/>
              </a:rPr>
              <a:t>SOFTWARE AND HARDWARE REQUIREMENTS </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E5A135D4-C71C-8BE2-5052-4075A4A2BF5E}"/>
              </a:ext>
            </a:extLst>
          </p:cNvPr>
          <p:cNvSpPr>
            <a:spLocks noGrp="1"/>
          </p:cNvSpPr>
          <p:nvPr>
            <p:ph idx="1"/>
          </p:nvPr>
        </p:nvSpPr>
        <p:spPr>
          <a:xfrm>
            <a:off x="674370" y="1162275"/>
            <a:ext cx="10515600" cy="5289008"/>
          </a:xfrm>
        </p:spPr>
        <p:txBody>
          <a:bodyPr vert="horz" lIns="91440" tIns="45720" rIns="91440" bIns="45720" rtlCol="0" anchor="t">
            <a:noAutofit/>
          </a:bodyPr>
          <a:lstStyle/>
          <a:p>
            <a:pPr algn="just"/>
            <a:endParaRPr lang="en-IN" sz="2000" b="1" dirty="0">
              <a:latin typeface="Times New Roman"/>
              <a:ea typeface="Calibri" panose="020F0502020204030204"/>
              <a:cs typeface="Times New Roman"/>
            </a:endParaRPr>
          </a:p>
          <a:p>
            <a:pPr marL="0" indent="0" algn="just">
              <a:buNone/>
            </a:pPr>
            <a:r>
              <a:rPr lang="en-IN" sz="2000" b="1" dirty="0">
                <a:latin typeface="Times New Roman"/>
                <a:cs typeface="Times New Roman"/>
              </a:rPr>
              <a:t>Software:</a:t>
            </a:r>
          </a:p>
          <a:p>
            <a:pPr algn="just"/>
            <a:r>
              <a:rPr lang="en-US" sz="2000" dirty="0">
                <a:latin typeface="Times New Roman"/>
                <a:ea typeface="Calibri" panose="020F0502020204030204"/>
                <a:cs typeface="Times New Roman"/>
              </a:rPr>
              <a:t>Python Environment</a:t>
            </a:r>
          </a:p>
          <a:p>
            <a:pPr algn="just"/>
            <a:r>
              <a:rPr lang="en-US" sz="2000" dirty="0">
                <a:latin typeface="Times New Roman"/>
                <a:ea typeface="Calibri" panose="020F0502020204030204"/>
                <a:cs typeface="Times New Roman"/>
              </a:rPr>
              <a:t>NLP Libraries</a:t>
            </a:r>
          </a:p>
          <a:p>
            <a:pPr algn="just"/>
            <a:r>
              <a:rPr lang="en-US" sz="2000" dirty="0">
                <a:latin typeface="Times New Roman"/>
                <a:ea typeface="Calibri" panose="020F0502020204030204"/>
                <a:cs typeface="Times New Roman"/>
              </a:rPr>
              <a:t>Machine Learning Frameworks</a:t>
            </a:r>
          </a:p>
          <a:p>
            <a:pPr algn="just"/>
            <a:r>
              <a:rPr lang="en-US" sz="2000" dirty="0">
                <a:latin typeface="Times New Roman"/>
                <a:ea typeface="Calibri" panose="020F0502020204030204"/>
                <a:cs typeface="Times New Roman"/>
              </a:rPr>
              <a:t>Operating System (Windows/Linux)</a:t>
            </a:r>
          </a:p>
          <a:p>
            <a:pPr algn="just"/>
            <a:r>
              <a:rPr lang="en-US" sz="2000" dirty="0">
                <a:latin typeface="Times New Roman"/>
                <a:ea typeface="Calibri" panose="020F0502020204030204"/>
                <a:cs typeface="Times New Roman"/>
              </a:rPr>
              <a:t>Development Tools</a:t>
            </a:r>
            <a:endParaRPr lang="en-IN" sz="2000" dirty="0">
              <a:latin typeface="Times New Roman"/>
              <a:ea typeface="Calibri" panose="020F0502020204030204"/>
              <a:cs typeface="Times New Roman"/>
            </a:endParaRPr>
          </a:p>
          <a:p>
            <a:pPr marL="0" indent="0" algn="just">
              <a:buNone/>
            </a:pPr>
            <a:r>
              <a:rPr lang="en-IN" sz="2000" b="1" dirty="0">
                <a:latin typeface="Times New Roman"/>
                <a:cs typeface="Times New Roman"/>
              </a:rPr>
              <a:t>Hardware:</a:t>
            </a:r>
            <a:endParaRPr lang="en-IN" sz="2000" dirty="0">
              <a:latin typeface="Times New Roman"/>
              <a:ea typeface="Calibri"/>
              <a:cs typeface="Times New Roman"/>
            </a:endParaRPr>
          </a:p>
          <a:p>
            <a:pPr algn="just"/>
            <a:r>
              <a:rPr lang="en-US" sz="2000" dirty="0">
                <a:latin typeface="Times New Roman"/>
                <a:ea typeface="Calibri"/>
                <a:cs typeface="Times New Roman"/>
              </a:rPr>
              <a:t>Minimum 8 GB RAM</a:t>
            </a:r>
          </a:p>
          <a:p>
            <a:pPr algn="just"/>
            <a:r>
              <a:rPr lang="en-US" sz="2000" dirty="0">
                <a:latin typeface="Times New Roman"/>
                <a:ea typeface="Calibri"/>
                <a:cs typeface="Times New Roman"/>
              </a:rPr>
              <a:t>Intel i5 or equivalent processor</a:t>
            </a:r>
          </a:p>
          <a:p>
            <a:pPr algn="just"/>
            <a:r>
              <a:rPr lang="en-US" sz="2000" dirty="0">
                <a:latin typeface="Times New Roman"/>
                <a:ea typeface="Calibri"/>
                <a:cs typeface="Times New Roman"/>
              </a:rPr>
              <a:t>Stable internet connection</a:t>
            </a:r>
            <a:endParaRPr lang="en-IN" sz="2000" b="1" dirty="0">
              <a:latin typeface="Times New Roman"/>
              <a:cs typeface="Times New Roman"/>
            </a:endParaRPr>
          </a:p>
          <a:p>
            <a:endParaRPr lang="en-IN" sz="2000" dirty="0">
              <a:latin typeface="Times New Roman"/>
              <a:ea typeface="Calibri"/>
              <a:cs typeface="Times New Roman"/>
            </a:endParaRPr>
          </a:p>
        </p:txBody>
      </p:sp>
      <p:pic>
        <p:nvPicPr>
          <p:cNvPr id="4" name="image1.png">
            <a:extLst>
              <a:ext uri="{FF2B5EF4-FFF2-40B4-BE49-F238E27FC236}">
                <a16:creationId xmlns:a16="http://schemas.microsoft.com/office/drawing/2014/main" id="{757DEB07-F537-A0EE-5C90-FEE84F11D531}"/>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838050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46C4E41-31B5-EE54-36BC-D4DD01E76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888" y="1459907"/>
            <a:ext cx="10963173" cy="4151622"/>
          </a:xfrm>
          <a:prstGeom prst="rect">
            <a:avLst/>
          </a:prstGeom>
        </p:spPr>
      </p:pic>
      <p:sp>
        <p:nvSpPr>
          <p:cNvPr id="2" name="Title 1">
            <a:extLst>
              <a:ext uri="{FF2B5EF4-FFF2-40B4-BE49-F238E27FC236}">
                <a16:creationId xmlns:a16="http://schemas.microsoft.com/office/drawing/2014/main" id="{2F7C55BA-1AC2-F3E8-5EB3-E9AB4A6CE612}"/>
              </a:ext>
            </a:extLst>
          </p:cNvPr>
          <p:cNvSpPr>
            <a:spLocks noGrp="1"/>
          </p:cNvSpPr>
          <p:nvPr>
            <p:ph type="title"/>
          </p:nvPr>
        </p:nvSpPr>
        <p:spPr>
          <a:xfrm>
            <a:off x="1008184" y="174032"/>
            <a:ext cx="10175631" cy="1111843"/>
          </a:xfrm>
        </p:spPr>
        <p:txBody>
          <a:bodyPr anchor="ctr">
            <a:normAutofit/>
          </a:bodyPr>
          <a:lstStyle/>
          <a:p>
            <a:pPr algn="ctr"/>
            <a:r>
              <a:rPr lang="en-US" sz="3600" b="1" dirty="0">
                <a:latin typeface="Times New Roman" panose="02020603050405020304" pitchFamily="18" charset="0"/>
                <a:cs typeface="Times New Roman" panose="02020603050405020304" pitchFamily="18" charset="0"/>
              </a:rPr>
              <a:t>ARCHITECTURE DIAGRAM </a:t>
            </a:r>
            <a:endParaRPr lang="en-IN" sz="36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4CC9A830-196D-03A1-4137-E61B91C62E88}"/>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836678" y="2443164"/>
            <a:ext cx="10515595" cy="1971672"/>
          </a:xfrm>
          <a:prstGeom prst="rect">
            <a:avLst/>
          </a:prstGeom>
        </p:spPr>
      </p:pic>
      <p:pic>
        <p:nvPicPr>
          <p:cNvPr id="3" name="image1.png">
            <a:extLst>
              <a:ext uri="{FF2B5EF4-FFF2-40B4-BE49-F238E27FC236}">
                <a16:creationId xmlns:a16="http://schemas.microsoft.com/office/drawing/2014/main" id="{EA348197-6F16-7DF4-7B10-941CF6B94BBD}"/>
              </a:ext>
            </a:extLst>
          </p:cNvPr>
          <p:cNvPicPr/>
          <p:nvPr/>
        </p:nvPicPr>
        <p:blipFill>
          <a:blip r:embed="rId4"/>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3574010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CE401D-2654-6F9D-2B6A-26FB28FE354C}"/>
              </a:ext>
            </a:extLst>
          </p:cNvPr>
          <p:cNvSpPr>
            <a:spLocks noGrp="1"/>
          </p:cNvSpPr>
          <p:nvPr>
            <p:ph idx="1"/>
          </p:nvPr>
        </p:nvSpPr>
        <p:spPr/>
        <p:txBody>
          <a:bodyPr vert="horz" lIns="91440" tIns="45720" rIns="91440" bIns="45720" rtlCol="0" anchor="t">
            <a:normAutofit fontScale="70000" lnSpcReduction="20000"/>
          </a:bodyPr>
          <a:lstStyle/>
          <a:p>
            <a:pPr marL="0" indent="0" algn="just">
              <a:buNone/>
            </a:pPr>
            <a:r>
              <a:rPr lang="en-US" b="1" dirty="0"/>
              <a:t>User Interaction Layer</a:t>
            </a:r>
            <a:r>
              <a:rPr lang="en-US" dirty="0"/>
              <a:t> – Users or external applications submit prompts through a web interface, chatbot, or API client. Secure Session Manager maintains conversation context while preventing unauthorized access.</a:t>
            </a:r>
          </a:p>
          <a:p>
            <a:pPr marL="0" indent="0" algn="just">
              <a:buNone/>
            </a:pPr>
            <a:r>
              <a:rPr lang="en-US" b="1" dirty="0"/>
              <a:t>Interface &amp; Access Layer</a:t>
            </a:r>
            <a:r>
              <a:rPr lang="en-US" dirty="0"/>
              <a:t> – API Gateway receives incoming requests and routes them securely to the system. Authentication and rate‑limiting mechanisms validate users, prevent abuse, and ensure controlled system access.</a:t>
            </a:r>
          </a:p>
          <a:p>
            <a:pPr marL="0" indent="0" algn="just">
              <a:buNone/>
            </a:pPr>
            <a:r>
              <a:rPr lang="en-US" b="1" dirty="0"/>
              <a:t>PID‑Guard Framework Layer </a:t>
            </a:r>
            <a:r>
              <a:rPr lang="en-US" dirty="0"/>
              <a:t>– Incoming prompts are analyzed using semantic analysis, behavioral analysis, intent drift detection, and context integrity monitoring to identify malicious or manipulative inputs. A risk scoring engine evaluates threat levels, and the decision engine determines whether to allow, sanitize, or block the request.</a:t>
            </a:r>
          </a:p>
          <a:p>
            <a:pPr marL="0" indent="0" algn="just">
              <a:buNone/>
            </a:pPr>
            <a:r>
              <a:rPr lang="en-US" dirty="0"/>
              <a:t>• </a:t>
            </a:r>
            <a:r>
              <a:rPr lang="en-US" b="1" dirty="0"/>
              <a:t>AI Model &amp; Execution Layer</a:t>
            </a:r>
            <a:r>
              <a:rPr lang="en-US" dirty="0"/>
              <a:t> – Safe prompts are forwarded to the Large Language Model for processing, optionally interacting with external tools or knowledge bases. The model generates responses based only on validated inputs.</a:t>
            </a:r>
          </a:p>
          <a:p>
            <a:pPr marL="0" indent="0" algn="just">
              <a:buNone/>
            </a:pPr>
            <a:r>
              <a:rPr lang="en-US" dirty="0"/>
              <a:t>• </a:t>
            </a:r>
            <a:r>
              <a:rPr lang="en-US" b="1" dirty="0"/>
              <a:t>Monitoring Layer </a:t>
            </a:r>
            <a:r>
              <a:rPr lang="en-US" dirty="0"/>
              <a:t>– Generated responses are examined for policy violations, harmful content, or sensitive data leakage before being delivered to the user, ensuring safe and compliant outputs.</a:t>
            </a:r>
            <a:endParaRPr lang="en-IN" sz="2000" b="1" dirty="0">
              <a:latin typeface="Times New Roman"/>
              <a:ea typeface="Calibri"/>
              <a:cs typeface="Times New Roman"/>
            </a:endParaRPr>
          </a:p>
        </p:txBody>
      </p:sp>
      <p:pic>
        <p:nvPicPr>
          <p:cNvPr id="2" name="image1.png">
            <a:extLst>
              <a:ext uri="{FF2B5EF4-FFF2-40B4-BE49-F238E27FC236}">
                <a16:creationId xmlns:a16="http://schemas.microsoft.com/office/drawing/2014/main" id="{3280622F-5A2A-32B9-D887-121AFC657022}"/>
              </a:ext>
            </a:extLst>
          </p:cNvPr>
          <p:cNvPicPr/>
          <p:nvPr/>
        </p:nvPicPr>
        <p:blipFill>
          <a:blip r:embed="rId3"/>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6922769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28B0B-6811-22FB-E354-B09FFD251F52}"/>
              </a:ext>
            </a:extLst>
          </p:cNvPr>
          <p:cNvSpPr>
            <a:spLocks noGrp="1"/>
          </p:cNvSpPr>
          <p:nvPr>
            <p:ph type="title"/>
          </p:nvPr>
        </p:nvSpPr>
        <p:spPr/>
        <p:txBody>
          <a:bodyPr>
            <a:normAutofit/>
          </a:bodyPr>
          <a:lstStyle/>
          <a:p>
            <a:pPr algn="ctr"/>
            <a:r>
              <a:rPr lang="en-US" sz="3200" b="1" dirty="0">
                <a:latin typeface="Times New Roman"/>
                <a:cs typeface="Times New Roman"/>
              </a:rPr>
              <a:t>NOVELTY</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641DBF05-8946-EB54-B323-C2DA5C6A786B}"/>
              </a:ext>
            </a:extLst>
          </p:cNvPr>
          <p:cNvSpPr>
            <a:spLocks noGrp="1"/>
          </p:cNvSpPr>
          <p:nvPr>
            <p:ph idx="1"/>
          </p:nvPr>
        </p:nvSpPr>
        <p:spPr/>
        <p:txBody>
          <a:bodyPr vert="horz" lIns="91440" tIns="45720" rIns="91440" bIns="45720" rtlCol="0" anchor="t">
            <a:normAutofit/>
          </a:bodyPr>
          <a:lstStyle/>
          <a:p>
            <a:pPr marL="0" indent="0" algn="just">
              <a:buNone/>
            </a:pPr>
            <a:r>
              <a:rPr lang="en-US" sz="2000" dirty="0">
                <a:latin typeface="Times New Roman"/>
                <a:ea typeface="+mn-lt"/>
                <a:cs typeface="Times New Roman"/>
              </a:rPr>
              <a:t>• Hybrid semantic + behavioral detection approach</a:t>
            </a:r>
          </a:p>
          <a:p>
            <a:pPr marL="0" indent="0" algn="just">
              <a:buNone/>
            </a:pPr>
            <a:r>
              <a:rPr lang="en-US" sz="2000" dirty="0">
                <a:latin typeface="Times New Roman"/>
                <a:ea typeface="+mn-lt"/>
                <a:cs typeface="Times New Roman"/>
              </a:rPr>
              <a:t>• Real‑time input validation</a:t>
            </a:r>
          </a:p>
          <a:p>
            <a:pPr marL="0" indent="0" algn="just">
              <a:buNone/>
            </a:pPr>
            <a:r>
              <a:rPr lang="en-US" sz="2000" dirty="0">
                <a:latin typeface="Times New Roman"/>
                <a:ea typeface="+mn-lt"/>
                <a:cs typeface="Times New Roman"/>
              </a:rPr>
              <a:t>• Detection of indirect attacks</a:t>
            </a:r>
          </a:p>
          <a:p>
            <a:pPr marL="0" indent="0" algn="just">
              <a:buNone/>
            </a:pPr>
            <a:r>
              <a:rPr lang="en-US" sz="2000" dirty="0">
                <a:latin typeface="Times New Roman"/>
                <a:ea typeface="+mn-lt"/>
                <a:cs typeface="Times New Roman"/>
              </a:rPr>
              <a:t>• Focus on prevention rather than mitigation</a:t>
            </a:r>
          </a:p>
          <a:p>
            <a:pPr marL="0" indent="0" algn="just">
              <a:buNone/>
            </a:pPr>
            <a:r>
              <a:rPr lang="en-US" sz="2000" dirty="0">
                <a:latin typeface="Times New Roman"/>
                <a:ea typeface="+mn-lt"/>
                <a:cs typeface="Times New Roman"/>
              </a:rPr>
              <a:t>• Applicable to multiple LLM platforms</a:t>
            </a:r>
            <a:endParaRPr lang="en-IN" sz="2000" dirty="0">
              <a:latin typeface="Times New Roman"/>
              <a:ea typeface="Calibri"/>
              <a:cs typeface="Times New Roman"/>
            </a:endParaRPr>
          </a:p>
        </p:txBody>
      </p:sp>
      <p:pic>
        <p:nvPicPr>
          <p:cNvPr id="4" name="image1.png">
            <a:extLst>
              <a:ext uri="{FF2B5EF4-FFF2-40B4-BE49-F238E27FC236}">
                <a16:creationId xmlns:a16="http://schemas.microsoft.com/office/drawing/2014/main" id="{0A7489E3-7E35-CE3B-1BDD-069552B3C06F}"/>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3305895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ECBD-E9A7-4859-966B-FB7474E2A6D4}"/>
              </a:ext>
            </a:extLst>
          </p:cNvPr>
          <p:cNvSpPr>
            <a:spLocks noGrp="1"/>
          </p:cNvSpPr>
          <p:nvPr>
            <p:ph type="title"/>
          </p:nvPr>
        </p:nvSpPr>
        <p:spPr/>
        <p:txBody>
          <a:bodyPr>
            <a:normAutofit/>
          </a:bodyPr>
          <a:lstStyle/>
          <a:p>
            <a:pPr algn="ctr"/>
            <a:r>
              <a:rPr lang="en-US" sz="3200" b="1" dirty="0">
                <a:latin typeface="Times New Roman"/>
                <a:cs typeface="Times New Roman"/>
              </a:rPr>
              <a:t>MODULES</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0CB1D59D-0041-C8C7-C1A9-83650B3AA079}"/>
              </a:ext>
            </a:extLst>
          </p:cNvPr>
          <p:cNvSpPr>
            <a:spLocks noGrp="1"/>
          </p:cNvSpPr>
          <p:nvPr>
            <p:ph idx="1"/>
          </p:nvPr>
        </p:nvSpPr>
        <p:spPr>
          <a:xfrm>
            <a:off x="838199" y="1825625"/>
            <a:ext cx="10842171" cy="4667250"/>
          </a:xfrm>
        </p:spPr>
        <p:txBody>
          <a:bodyPr vert="horz" lIns="91440" tIns="45720" rIns="91440" bIns="45720" rtlCol="0" anchor="t">
            <a:normAutofit fontScale="77500" lnSpcReduction="20000"/>
          </a:bodyPr>
          <a:lstStyle/>
          <a:p>
            <a:pPr marL="0" indent="0">
              <a:buNone/>
            </a:pPr>
            <a:r>
              <a:rPr lang="en-IN" b="1" dirty="0">
                <a:latin typeface="Times New Roman" panose="02020603050405020304" pitchFamily="18" charset="0"/>
                <a:cs typeface="Times New Roman" panose="02020603050405020304" pitchFamily="18" charset="0"/>
              </a:rPr>
              <a:t>1. User Interface &amp; Prompt Input Module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Provides a secure interface for users to submit prompts. Validates and preprocesses input before analysis.</a:t>
            </a:r>
          </a:p>
          <a:p>
            <a:pPr marL="0" indent="0">
              <a:buNone/>
            </a:pPr>
            <a:r>
              <a:rPr lang="en-IN" b="1" dirty="0">
                <a:latin typeface="Times New Roman" panose="02020603050405020304" pitchFamily="18" charset="0"/>
                <a:cs typeface="Times New Roman" panose="02020603050405020304" pitchFamily="18" charset="0"/>
              </a:rPr>
              <a:t>2. Semantic Analysis Module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Examines the meaning of the prompt to detect malicious intent, instruction overrides, or sensitive requests.</a:t>
            </a:r>
          </a:p>
          <a:p>
            <a:pPr marL="0" indent="0">
              <a:buNone/>
            </a:pPr>
            <a:r>
              <a:rPr lang="en-IN" b="1" dirty="0">
                <a:latin typeface="Times New Roman" panose="02020603050405020304" pitchFamily="18" charset="0"/>
                <a:cs typeface="Times New Roman" panose="02020603050405020304" pitchFamily="18" charset="0"/>
              </a:rPr>
              <a:t>3. </a:t>
            </a:r>
            <a:r>
              <a:rPr lang="en-IN" b="1" dirty="0" err="1">
                <a:latin typeface="Times New Roman" panose="02020603050405020304" pitchFamily="18" charset="0"/>
                <a:cs typeface="Times New Roman" panose="02020603050405020304" pitchFamily="18" charset="0"/>
              </a:rPr>
              <a:t>Behavioral</a:t>
            </a:r>
            <a:r>
              <a:rPr lang="en-IN" b="1" dirty="0">
                <a:latin typeface="Times New Roman" panose="02020603050405020304" pitchFamily="18" charset="0"/>
                <a:cs typeface="Times New Roman" panose="02020603050405020304" pitchFamily="18" charset="0"/>
              </a:rPr>
              <a:t> Analysis Module</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user interaction patterns such as repeated bypass attempts or suspicious query sequences.</a:t>
            </a:r>
          </a:p>
          <a:p>
            <a:pPr marL="0" indent="0">
              <a:buNone/>
            </a:pPr>
            <a:r>
              <a:rPr lang="en-IN" b="1" dirty="0">
                <a:latin typeface="Times New Roman" panose="02020603050405020304" pitchFamily="18" charset="0"/>
                <a:cs typeface="Times New Roman" panose="02020603050405020304" pitchFamily="18" charset="0"/>
              </a:rPr>
              <a:t>4. Intent Drift Detection Module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Identifies gradual shifts from benign queries toward harmful objectives across multiple prompts.</a:t>
            </a:r>
          </a:p>
          <a:p>
            <a:pPr marL="0" indent="0">
              <a:buNone/>
            </a:pPr>
            <a:r>
              <a:rPr lang="en-IN" b="1" dirty="0">
                <a:latin typeface="Times New Roman" panose="02020603050405020304" pitchFamily="18" charset="0"/>
                <a:cs typeface="Times New Roman" panose="02020603050405020304" pitchFamily="18" charset="0"/>
              </a:rPr>
              <a:t>5. Context Integrity Module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Ensures prompts do not override system rules or manipulate the model’s internal instructions.</a:t>
            </a:r>
          </a:p>
          <a:p>
            <a:pPr marL="0" indent="0">
              <a:buNone/>
            </a:pPr>
            <a:r>
              <a:rPr lang="en-IN" b="1" dirty="0">
                <a:latin typeface="Times New Roman" panose="02020603050405020304" pitchFamily="18" charset="0"/>
                <a:cs typeface="Times New Roman" panose="02020603050405020304" pitchFamily="18" charset="0"/>
              </a:rPr>
              <a:t>6. Feature Extraction &amp; Scoring Module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Combines outputs from all analyses to compute a risk score for the prompt.</a:t>
            </a:r>
          </a:p>
        </p:txBody>
      </p:sp>
      <p:pic>
        <p:nvPicPr>
          <p:cNvPr id="4" name="image1.png">
            <a:extLst>
              <a:ext uri="{FF2B5EF4-FFF2-40B4-BE49-F238E27FC236}">
                <a16:creationId xmlns:a16="http://schemas.microsoft.com/office/drawing/2014/main" id="{D9A546C3-5365-F2AC-1789-4B7F9150762F}"/>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1578309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66F73-E3DD-B66E-B871-ADB72A3AC0DE}"/>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JUSTIFICATION OF SUSTAINABLE DEVELOPMENT GOAL </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42FC85-C885-BC98-F381-FE9BB5FBFDA2}"/>
              </a:ext>
            </a:extLst>
          </p:cNvPr>
          <p:cNvSpPr>
            <a:spLocks noGrp="1"/>
          </p:cNvSpPr>
          <p:nvPr>
            <p:ph idx="1"/>
          </p:nvPr>
        </p:nvSpPr>
        <p:spPr/>
        <p:txBody>
          <a:bodyPr>
            <a:normAutofit fontScale="92500" lnSpcReduction="20000"/>
          </a:body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SDG 16 – Peace, Justice and Strong Institutions</a:t>
            </a:r>
          </a:p>
          <a:p>
            <a:pPr>
              <a:lnSpc>
                <a:spcPct val="150000"/>
              </a:lnSpc>
            </a:pPr>
            <a:r>
              <a:rPr lang="en-US" sz="2000" dirty="0">
                <a:latin typeface="Times New Roman" panose="02020603050405020304" pitchFamily="18" charset="0"/>
                <a:cs typeface="Times New Roman" panose="02020603050405020304" pitchFamily="18" charset="0"/>
              </a:rPr>
              <a:t>This research supports SDG 16 by enhancing the security, reliability, and accountability of AI‑driven systems used in governance, business, and public services. By detecting prompt injection attacks that can manipulate AI outputs, leak sensitive information, or spread harmful content, the framework helps prevent misuse of artificial intelligence technologies.</a:t>
            </a:r>
          </a:p>
          <a:p>
            <a:pPr>
              <a:lnSpc>
                <a:spcPct val="150000"/>
              </a:lnSpc>
            </a:pPr>
            <a:r>
              <a:rPr lang="en-US" sz="2000" dirty="0">
                <a:latin typeface="Times New Roman" panose="02020603050405020304" pitchFamily="18" charset="0"/>
                <a:cs typeface="Times New Roman" panose="02020603050405020304" pitchFamily="18" charset="0"/>
              </a:rPr>
              <a:t>The proposed PID‑Guard system strengthens trust in digital infrastructure by ensuring that AI applications operate safely and transparently even in adversarial environments. By protecting users and institutions from malicious manipulation of language models, the project contributes to resilient technological systems, ethical AI deployment, and secure decision‑making processes aligned with responsible governance goals.</a:t>
            </a:r>
          </a:p>
          <a:p>
            <a:pPr marL="0" indent="0">
              <a:lnSpc>
                <a:spcPct val="150000"/>
              </a:lnSpc>
              <a:buNone/>
            </a:pPr>
            <a:endParaRPr lang="en-US" sz="2000" b="1" dirty="0">
              <a:latin typeface="Times New Roman" panose="02020603050405020304" pitchFamily="18" charset="0"/>
              <a:cs typeface="Times New Roman" panose="02020603050405020304" pitchFamily="18" charset="0"/>
            </a:endParaRPr>
          </a:p>
        </p:txBody>
      </p:sp>
      <p:pic>
        <p:nvPicPr>
          <p:cNvPr id="4" name="image1.png">
            <a:extLst>
              <a:ext uri="{FF2B5EF4-FFF2-40B4-BE49-F238E27FC236}">
                <a16:creationId xmlns:a16="http://schemas.microsoft.com/office/drawing/2014/main" id="{C10E8D59-E5EF-034A-FCAE-8854573D8286}"/>
              </a:ext>
            </a:extLst>
          </p:cNvPr>
          <p:cNvPicPr/>
          <p:nvPr/>
        </p:nvPicPr>
        <p:blipFill>
          <a:blip r:embed="rId2"/>
          <a:srcRect t="18788" b="16969"/>
          <a:stretch>
            <a:fillRect/>
          </a:stretch>
        </p:blipFill>
        <p:spPr>
          <a:xfrm>
            <a:off x="10550683" y="0"/>
            <a:ext cx="1606233" cy="771842"/>
          </a:xfrm>
          <a:prstGeom prst="rect">
            <a:avLst/>
          </a:prstGeom>
          <a:ln/>
        </p:spPr>
      </p:pic>
    </p:spTree>
    <p:extLst>
      <p:ext uri="{BB962C8B-B14F-4D97-AF65-F5344CB8AC3E}">
        <p14:creationId xmlns:p14="http://schemas.microsoft.com/office/powerpoint/2010/main" val="9015886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49683-5282-91F6-689A-AC1EC23A130D}"/>
              </a:ext>
            </a:extLst>
          </p:cNvPr>
          <p:cNvSpPr>
            <a:spLocks noGrp="1"/>
          </p:cNvSpPr>
          <p:nvPr>
            <p:ph type="title"/>
          </p:nvPr>
        </p:nvSpPr>
        <p:spPr/>
        <p:txBody>
          <a:bodyPr>
            <a:normAutofit/>
          </a:bodyPr>
          <a:lstStyle/>
          <a:p>
            <a:pPr algn="ctr"/>
            <a:r>
              <a:rPr lang="en-US" sz="3200" b="1">
                <a:latin typeface="Times New Roman"/>
                <a:cs typeface="Times New Roman"/>
              </a:rPr>
              <a:t>SCREENSHOTS</a:t>
            </a:r>
            <a:endParaRPr lang="en-IN" sz="3200" b="1">
              <a:latin typeface="Times New Roman"/>
              <a:cs typeface="Times New Roman"/>
            </a:endParaRPr>
          </a:p>
        </p:txBody>
      </p:sp>
      <p:sp>
        <p:nvSpPr>
          <p:cNvPr id="3" name="Content Placeholder 2">
            <a:extLst>
              <a:ext uri="{FF2B5EF4-FFF2-40B4-BE49-F238E27FC236}">
                <a16:creationId xmlns:a16="http://schemas.microsoft.com/office/drawing/2014/main" id="{B1B193E0-DB05-1407-421D-0EC4D0F243C4}"/>
              </a:ext>
            </a:extLst>
          </p:cNvPr>
          <p:cNvSpPr>
            <a:spLocks noGrp="1"/>
          </p:cNvSpPr>
          <p:nvPr>
            <p:ph idx="1"/>
          </p:nvPr>
        </p:nvSpPr>
        <p:spPr/>
        <p:txBody>
          <a:bodyPr vert="horz" lIns="91440" tIns="45720" rIns="91440" bIns="45720" rtlCol="0" anchor="t">
            <a:normAutofit/>
          </a:bodyPr>
          <a:lstStyle/>
          <a:p>
            <a:pPr marL="0" indent="0" algn="just">
              <a:buNone/>
            </a:pPr>
            <a:endParaRPr lang="en-IN" sz="2000">
              <a:latin typeface="Times New Roman"/>
              <a:ea typeface="Calibri" panose="020F0502020204030204"/>
              <a:cs typeface="Times New Roman"/>
            </a:endParaRPr>
          </a:p>
          <a:p>
            <a:pPr marL="0" indent="0" algn="just">
              <a:buNone/>
            </a:pPr>
            <a:endParaRPr lang="en-IN" sz="2000">
              <a:latin typeface="Times New Roman"/>
              <a:ea typeface="Calibri" panose="020F0502020204030204"/>
              <a:cs typeface="Times New Roman"/>
            </a:endParaRPr>
          </a:p>
        </p:txBody>
      </p:sp>
      <p:pic>
        <p:nvPicPr>
          <p:cNvPr id="5" name="Picture 4">
            <a:extLst>
              <a:ext uri="{FF2B5EF4-FFF2-40B4-BE49-F238E27FC236}">
                <a16:creationId xmlns:a16="http://schemas.microsoft.com/office/drawing/2014/main" id="{05BFD8A5-1AD8-ED09-FFD9-527BFA7D258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46127" y="2122714"/>
            <a:ext cx="7546301" cy="3881629"/>
          </a:xfrm>
          <a:prstGeom prst="rect">
            <a:avLst/>
          </a:prstGeom>
        </p:spPr>
      </p:pic>
      <p:sp>
        <p:nvSpPr>
          <p:cNvPr id="6" name="TextBox 5">
            <a:extLst>
              <a:ext uri="{FF2B5EF4-FFF2-40B4-BE49-F238E27FC236}">
                <a16:creationId xmlns:a16="http://schemas.microsoft.com/office/drawing/2014/main" id="{3AF42EA9-8B8A-7A95-FBC6-BAF2DCE5CE73}"/>
              </a:ext>
            </a:extLst>
          </p:cNvPr>
          <p:cNvSpPr txBox="1"/>
          <p:nvPr/>
        </p:nvSpPr>
        <p:spPr>
          <a:xfrm>
            <a:off x="1908317" y="1448534"/>
            <a:ext cx="4844142" cy="400110"/>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USER DASHBOARD </a:t>
            </a:r>
            <a:endParaRPr lang="en-IN" sz="2000" b="1">
              <a:latin typeface="Times New Roman" panose="02020603050405020304" pitchFamily="18" charset="0"/>
              <a:cs typeface="Times New Roman" panose="02020603050405020304" pitchFamily="18" charset="0"/>
            </a:endParaRPr>
          </a:p>
        </p:txBody>
      </p:sp>
      <p:pic>
        <p:nvPicPr>
          <p:cNvPr id="4" name="image1.png">
            <a:extLst>
              <a:ext uri="{FF2B5EF4-FFF2-40B4-BE49-F238E27FC236}">
                <a16:creationId xmlns:a16="http://schemas.microsoft.com/office/drawing/2014/main" id="{76D8C8C6-3E46-2935-FDA6-128AF744BAC4}"/>
              </a:ext>
            </a:extLst>
          </p:cNvPr>
          <p:cNvPicPr/>
          <p:nvPr/>
        </p:nvPicPr>
        <p:blipFill>
          <a:blip r:embed="rId3"/>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1680665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9EAF1E6-CAF0-016B-D7E3-389BF5ABF85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194115" y="3429000"/>
            <a:ext cx="6736030" cy="3309074"/>
          </a:xfrm>
          <a:prstGeom prst="rect">
            <a:avLst/>
          </a:prstGeom>
        </p:spPr>
      </p:pic>
      <p:sp>
        <p:nvSpPr>
          <p:cNvPr id="9" name="AutoShape 8">
            <a:extLst>
              <a:ext uri="{FF2B5EF4-FFF2-40B4-BE49-F238E27FC236}">
                <a16:creationId xmlns:a16="http://schemas.microsoft.com/office/drawing/2014/main" id="{C17B0E97-524A-FC79-4FF4-CAB4F8C54E7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C5C8F9DF-53D6-977C-9663-6088202B4016}"/>
              </a:ext>
            </a:extLst>
          </p:cNvPr>
          <p:cNvPicPr>
            <a:picLocks noChangeAspect="1"/>
          </p:cNvPicPr>
          <p:nvPr/>
        </p:nvPicPr>
        <p:blipFill>
          <a:blip r:embed="rId3"/>
          <a:stretch>
            <a:fillRect/>
          </a:stretch>
        </p:blipFill>
        <p:spPr>
          <a:xfrm>
            <a:off x="616018" y="632901"/>
            <a:ext cx="5752698" cy="3092075"/>
          </a:xfrm>
          <a:prstGeom prst="rect">
            <a:avLst/>
          </a:prstGeom>
        </p:spPr>
      </p:pic>
      <p:pic>
        <p:nvPicPr>
          <p:cNvPr id="2" name="image1.png">
            <a:extLst>
              <a:ext uri="{FF2B5EF4-FFF2-40B4-BE49-F238E27FC236}">
                <a16:creationId xmlns:a16="http://schemas.microsoft.com/office/drawing/2014/main" id="{C03AAA35-59C0-AB12-040F-515EA3E5789E}"/>
              </a:ext>
            </a:extLst>
          </p:cNvPr>
          <p:cNvPicPr/>
          <p:nvPr/>
        </p:nvPicPr>
        <p:blipFill>
          <a:blip r:embed="rId4"/>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3137544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1D176-C895-41D0-BED6-37659CBC9A42}"/>
              </a:ext>
            </a:extLst>
          </p:cNvPr>
          <p:cNvSpPr>
            <a:spLocks noGrp="1"/>
          </p:cNvSpPr>
          <p:nvPr>
            <p:ph type="title"/>
          </p:nvPr>
        </p:nvSpPr>
        <p:spPr/>
        <p:txBody>
          <a:bodyPr>
            <a:normAutofit/>
          </a:bodyPr>
          <a:lstStyle/>
          <a:p>
            <a:pPr algn="ctr"/>
            <a:r>
              <a:rPr lang="en-US" sz="3200" b="1" dirty="0">
                <a:latin typeface="Times New Roman"/>
                <a:cs typeface="Times New Roman"/>
              </a:rPr>
              <a:t>CONCLUSION</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C3CEB85B-BF6E-5A57-A1A6-DA23F47B795E}"/>
              </a:ext>
            </a:extLst>
          </p:cNvPr>
          <p:cNvSpPr>
            <a:spLocks noGrp="1"/>
          </p:cNvSpPr>
          <p:nvPr>
            <p:ph idx="1"/>
          </p:nvPr>
        </p:nvSpPr>
        <p:spPr/>
        <p:txBody>
          <a:bodyPr vert="horz" lIns="91440" tIns="45720" rIns="91440" bIns="45720" rtlCol="0" anchor="t">
            <a:normAutofit/>
          </a:bodyPr>
          <a:lstStyle/>
          <a:p>
            <a:pPr marL="0" indent="0" algn="just">
              <a:lnSpc>
                <a:spcPct val="150000"/>
              </a:lnSpc>
              <a:buNone/>
            </a:pPr>
            <a:r>
              <a:rPr lang="en-US" sz="2000" dirty="0">
                <a:latin typeface="Times New Roman"/>
                <a:ea typeface="+mn-lt"/>
                <a:cs typeface="Times New Roman"/>
              </a:rPr>
              <a:t>This research proposes a hybrid framework for detecting prompt injection attacks in large language models using semantic and behavioral analysis. By identifying malicious intent before model execution, the system enhances AI security, prevents misuse, and supports trustworthy deployment of LLM‑based applications in real‑world environments.</a:t>
            </a:r>
            <a:endParaRPr lang="en-US" dirty="0">
              <a:latin typeface="Times New Roman"/>
              <a:cs typeface="Times New Roman"/>
            </a:endParaRPr>
          </a:p>
        </p:txBody>
      </p:sp>
      <p:pic>
        <p:nvPicPr>
          <p:cNvPr id="4" name="image1.png">
            <a:extLst>
              <a:ext uri="{FF2B5EF4-FFF2-40B4-BE49-F238E27FC236}">
                <a16:creationId xmlns:a16="http://schemas.microsoft.com/office/drawing/2014/main" id="{3AA18146-2C18-DEEA-717F-F92191C45548}"/>
              </a:ext>
            </a:extLst>
          </p:cNvPr>
          <p:cNvPicPr/>
          <p:nvPr/>
        </p:nvPicPr>
        <p:blipFill>
          <a:blip r:embed="rId2"/>
          <a:srcRect t="18788" b="16969"/>
          <a:stretch>
            <a:fillRect/>
          </a:stretch>
        </p:blipFill>
        <p:spPr>
          <a:xfrm>
            <a:off x="9864883" y="350521"/>
            <a:ext cx="1606233" cy="771842"/>
          </a:xfrm>
          <a:prstGeom prst="rect">
            <a:avLst/>
          </a:prstGeom>
          <a:ln/>
        </p:spPr>
      </p:pic>
    </p:spTree>
    <p:extLst>
      <p:ext uri="{BB962C8B-B14F-4D97-AF65-F5344CB8AC3E}">
        <p14:creationId xmlns:p14="http://schemas.microsoft.com/office/powerpoint/2010/main" val="2987637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TotalTime>
  <Words>2338</Words>
  <Application>Microsoft Office PowerPoint</Application>
  <PresentationFormat>Widescreen</PresentationFormat>
  <Paragraphs>237</Paragraphs>
  <Slides>31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Times New Roman</vt:lpstr>
      <vt:lpstr>Office Theme</vt:lpstr>
      <vt:lpstr>PID-Guard: Intent Drift and Context Integrity Framework for Detecting Prompt Injection Attacks in Large Language Models</vt:lpstr>
      <vt:lpstr>ABSTRACT</vt:lpstr>
      <vt:lpstr>INTRODUCTION </vt:lpstr>
      <vt:lpstr>EXISTING SYSTEM AND ITS LIMITATIONS</vt:lpstr>
      <vt:lpstr>MOTIVATION</vt:lpstr>
      <vt:lpstr> PROPOSED SYSTEM AND ITS ADVANTAGES</vt:lpstr>
      <vt:lpstr>ADVANTAGES</vt:lpstr>
      <vt:lpstr>PROBLEM STATEMENT</vt:lpstr>
      <vt:lpstr>OBJECTIVES</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INFERENCE FROM LITERATURE SURVEY</vt:lpstr>
      <vt:lpstr>METHODOLOGY / TOOLS / ALGORITHM</vt:lpstr>
      <vt:lpstr>ALGORITHM</vt:lpstr>
      <vt:lpstr>SOFTWARE AND HARDWARE REQUIREMENTS </vt:lpstr>
      <vt:lpstr>ARCHITECTURE DIAGRAM </vt:lpstr>
      <vt:lpstr>PowerPoint Presentation</vt:lpstr>
      <vt:lpstr>NOVELTY</vt:lpstr>
      <vt:lpstr>MODULES</vt:lpstr>
      <vt:lpstr>JUSTIFICATION OF SUSTAINABLE DEVELOPMENT GOAL </vt:lpstr>
      <vt:lpstr>SCREENSHOTS</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 Sreeshan</dc:creator>
  <cp:lastModifiedBy>Anirudh Mallikes</cp:lastModifiedBy>
  <cp:revision>7</cp:revision>
  <dcterms:created xsi:type="dcterms:W3CDTF">2026-02-26T15:35:00Z</dcterms:created>
  <dcterms:modified xsi:type="dcterms:W3CDTF">2026-03-28T05:53:01Z</dcterms:modified>
</cp:coreProperties>
</file>